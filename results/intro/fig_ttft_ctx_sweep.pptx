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Times New Roman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Times New Roman"/>
              </a:rPr>
              <a:t>(a)  Time to first token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recompute</c:v>
                </c:pt>
              </c:strCache>
            </c:strRef>
          </c:tx>
          <c:spPr>
            <a:solidFill>
              <a:srgbClr val="B4423C"/>
            </a:solidFill>
            <a:ln w="31750" cap="flat">
              <a:solidFill>
                <a:srgbClr val="B442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4423C"/>
              </a:solidFill>
              <a:ln w="9525" cap="flat">
                <a:solidFill>
                  <a:srgbClr val="B442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  <c:pt idx="5">
                    <c:v>32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165</c:v>
                </c:pt>
                <c:pt idx="1">
                  <c:v>304.3</c:v>
                </c:pt>
                <c:pt idx="2">
                  <c:v>614.9</c:v>
                </c:pt>
                <c:pt idx="3">
                  <c:v>1253.9</c:v>
                </c:pt>
                <c:pt idx="4">
                  <c:v>2814.8</c:v>
                </c:pt>
                <c:pt idx="5">
                  <c:v>6903.8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cached</c:v>
                </c:pt>
              </c:strCache>
            </c:strRef>
          </c:tx>
          <c:spPr>
            <a:solidFill>
              <a:srgbClr val="009E73"/>
            </a:solidFill>
            <a:ln w="31750" cap="flat">
              <a:solidFill>
                <a:srgbClr val="009E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9E73"/>
              </a:solidFill>
              <a:ln w="9525" cap="flat">
                <a:solidFill>
                  <a:srgbClr val="009E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  <c:pt idx="5">
                    <c:v>32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48.8</c:v>
                </c:pt>
                <c:pt idx="1">
                  <c:v>49.4</c:v>
                </c:pt>
                <c:pt idx="2">
                  <c:v>50.5</c:v>
                </c:pt>
                <c:pt idx="3">
                  <c:v>52.8</c:v>
                </c:pt>
                <c:pt idx="4">
                  <c:v>61</c:v>
                </c:pt>
                <c:pt idx="5">
                  <c:v>83.7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context length (k tokens)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mean TTFT (ms)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Times New Roman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Times New Roman"/>
              </a:rPr>
              <a:t>(b)  End-to-end throughput (128 output tokens)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recompute</c:v>
                </c:pt>
              </c:strCache>
            </c:strRef>
          </c:tx>
          <c:spPr>
            <a:solidFill>
              <a:srgbClr val="B4423C"/>
            </a:solidFill>
            <a:ln w="31750" cap="flat">
              <a:solidFill>
                <a:srgbClr val="B442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4423C"/>
              </a:solidFill>
              <a:ln w="9525" cap="flat">
                <a:solidFill>
                  <a:srgbClr val="B442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  <c:pt idx="5">
                    <c:v>32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365.9</c:v>
                </c:pt>
                <c:pt idx="1">
                  <c:v>654.3</c:v>
                </c:pt>
                <c:pt idx="2">
                  <c:v>1140.9</c:v>
                </c:pt>
                <c:pt idx="3">
                  <c:v>1866.6</c:v>
                </c:pt>
                <c:pt idx="4">
                  <c:v>2643.2</c:v>
                </c:pt>
                <c:pt idx="5">
                  <c:v>3040.4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cached</c:v>
                </c:pt>
              </c:strCache>
            </c:strRef>
          </c:tx>
          <c:spPr>
            <a:solidFill>
              <a:srgbClr val="009E73"/>
            </a:solidFill>
            <a:ln w="31750" cap="flat">
              <a:solidFill>
                <a:srgbClr val="009E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9E73"/>
              </a:solidFill>
              <a:ln w="9525" cap="flat">
                <a:solidFill>
                  <a:srgbClr val="009E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  <c:pt idx="5">
                    <c:v>32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383</c:v>
                </c:pt>
                <c:pt idx="1">
                  <c:v>712.9</c:v>
                </c:pt>
                <c:pt idx="2">
                  <c:v>1354.7</c:v>
                </c:pt>
                <c:pt idx="3">
                  <c:v>2580.6</c:v>
                </c:pt>
                <c:pt idx="4">
                  <c:v>4820.3</c:v>
                </c:pt>
                <c:pt idx="5">
                  <c:v>8577.9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context length (k tokens)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throughput (tok/s)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Recomputing an evicted prefix costs more the longer the context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32k tokens a cold prefill takes 82x the TTFT of a cached prefix hit, and end-to-end throughput is 2.8x lower. Output length is fixed at 128 tokens, so decode time is constant and only prefill differs.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14300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114300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reps per point · fixed 128-token output (ignore_eos) · x axis is log2: the lengths are powers of two, so even category spacing is the log2 axis of the PDF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2026-08-04T11:08:22Z</dcterms:created>
  <dcterms:modified xsi:type="dcterms:W3CDTF">2026-08-04T11:08:22Z</dcterms:modified>
</cp:coreProperties>
</file>