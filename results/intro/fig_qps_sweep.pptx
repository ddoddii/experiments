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(a)  TTFT vs QPS</a:t>
            </a:r>
          </a:p>
        </c:rich>
      </c:tx>
      <c:layout/>
      <c:overlay val="0"/>
    </c:title>
    <c:autoTitleDeleted val="0"/>
    <c:plotArea>
      <c:layout/>
      <c:scatterChart>
        <c:scatterStyle val="lineMarker"/>
        <c:varyColors val="0"/>
        <c:ser>
          <c:idx val="0"/>
          <c:order val="0"/>
          <c:tx>
            <c:strRef>
              <c:f>Sheet1!$B$1</c:f>
              <c:strCache>
                <c:ptCount val="1"/>
                <c:pt idx="0">
                  <c:v>cached</c:v>
                </c:pt>
              </c:strCache>
            </c:strRef>
          </c:tx>
          <c:spPr>
            <a:solidFill>
              <a:srgbClr val="009E73"/>
            </a:solidFill>
            <a:ln w="25400" cap="flat">
              <a:solidFill>
                <a:srgbClr val="009E73"/>
              </a:solidFill>
              <a:prstDash val="solid"/>
              <a:round/>
            </a:ln>
            <a:effectLst/>
          </c:spPr>
          <c:marker>
            <c:symbol val="circle"/>
            <c:size val="6"/>
            <c:spPr>
              <a:solidFill>
                <a:srgbClr val="009E73"/>
              </a:solidFill>
              <a:ln w="9525" cap="flat">
                <a:solidFill>
                  <a:srgbClr val="009E73"/>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Sheet1!$B$2:$B$10</c:f>
              <c:numCache>
                <c:formatCode>General</c:formatCode>
                <c:ptCount val="9"/>
                <c:pt idx="0">
                  <c:v>87.4</c:v>
                </c:pt>
                <c:pt idx="1">
                  <c:v>99.8</c:v>
                </c:pt>
                <c:pt idx="2">
                  <c:v>114.1</c:v>
                </c:pt>
                <c:pt idx="3">
                  <c:v>152.7</c:v>
                </c:pt>
                <c:pt idx="4">
                  <c:v>369.2</c:v>
                </c:pt>
                <c:pt idx="5">
                  <c:v>5454.7</c:v>
                </c:pt>
                <c:pt idx="6">
                  <c:v>9867.6</c:v>
                </c:pt>
                <c:pt idx="7">
                  <c:v>23643.7</c:v>
                </c:pt>
                <c:pt idx="8">
                  <c:v>29615.1</c:v>
                </c:pt>
              </c:numCache>
            </c:numRef>
          </c:yVal>
          <c:smooth val="0"/>
        </c:ser>
        <c:ser>
          <c:idx val="1"/>
          <c:order val="1"/>
          <c:tx>
            <c:strRef>
              <c:f>Sheet1!$C$1</c:f>
              <c:strCache>
                <c:ptCount val="1"/>
                <c:pt idx="0">
                  <c:v>recompute</c:v>
                </c:pt>
              </c:strCache>
            </c:strRef>
          </c:tx>
          <c:spPr>
            <a:solidFill>
              <a:srgbClr val="B4423C"/>
            </a:solidFill>
            <a:ln w="25400" cap="flat">
              <a:solidFill>
                <a:srgbClr val="B4423C"/>
              </a:solidFill>
              <a:prstDash val="solid"/>
              <a:round/>
            </a:ln>
            <a:effectLst/>
          </c:spPr>
          <c:marker>
            <c:symbol val="circle"/>
            <c:size val="6"/>
            <c:spPr>
              <a:solidFill>
                <a:srgbClr val="B4423C"/>
              </a:solidFill>
              <a:ln w="9525" cap="flat">
                <a:solidFill>
                  <a:srgbClr val="B4423C"/>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Sheet1!$C$2:$C$10</c:f>
              <c:numCache>
                <c:formatCode>General</c:formatCode>
                <c:ptCount val="9"/>
                <c:pt idx="0">
                  <c:v>13888.4</c:v>
                </c:pt>
                <c:pt idx="1">
                  <c:v>58159.5</c:v>
                </c:pt>
                <c:pt idx="2">
                  <c:v>111930.8</c:v>
                </c:pt>
                <c:pt idx="3">
                  <c:v>162993.7</c:v>
                </c:pt>
                <c:pt idx="4">
                  <c:v>219851.3</c:v>
                </c:pt>
                <c:pt idx="5">
                  <c:v>300407.6</c:v>
                </c:pt>
                <c:pt idx="6">
                  <c:v>300805.8</c:v>
                </c:pt>
                <c:pt idx="7">
                  <c:v>299275.3</c:v>
                </c:pt>
                <c:pt idx="8">
                  <c:v>298403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in val="0"/>
        </c:scaling>
        <c:delete val="0"/>
        <c:axPos val="b"/>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QPS (requested rate)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valAx>
      <c:valAx>
        <c:axId val="2094734552"/>
        <c:scaling>
          <c:orientation val="minMax"/>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mean TTFT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(b)  TPOT vs QPS</a:t>
            </a:r>
          </a:p>
        </c:rich>
      </c:tx>
      <c:layout/>
      <c:overlay val="0"/>
    </c:title>
    <c:autoTitleDeleted val="0"/>
    <c:plotArea>
      <c:layout/>
      <c:scatterChart>
        <c:scatterStyle val="lineMarker"/>
        <c:varyColors val="0"/>
        <c:ser>
          <c:idx val="0"/>
          <c:order val="0"/>
          <c:tx>
            <c:strRef>
              <c:f>Sheet1!$B$1</c:f>
              <c:strCache>
                <c:ptCount val="1"/>
                <c:pt idx="0">
                  <c:v>cached</c:v>
                </c:pt>
              </c:strCache>
            </c:strRef>
          </c:tx>
          <c:spPr>
            <a:solidFill>
              <a:srgbClr val="009E73"/>
            </a:solidFill>
            <a:ln w="25400" cap="flat">
              <a:solidFill>
                <a:srgbClr val="009E73"/>
              </a:solidFill>
              <a:prstDash val="solid"/>
              <a:round/>
            </a:ln>
            <a:effectLst/>
          </c:spPr>
          <c:marker>
            <c:symbol val="circle"/>
            <c:size val="6"/>
            <c:spPr>
              <a:solidFill>
                <a:srgbClr val="009E73"/>
              </a:solidFill>
              <a:ln w="9525" cap="flat">
                <a:solidFill>
                  <a:srgbClr val="009E73"/>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Sheet1!$B$2:$B$10</c:f>
              <c:numCache>
                <c:formatCode>General</c:formatCode>
                <c:ptCount val="9"/>
                <c:pt idx="0">
                  <c:v>29.216</c:v>
                </c:pt>
                <c:pt idx="1">
                  <c:v>40.624</c:v>
                </c:pt>
                <c:pt idx="2">
                  <c:v>65.6</c:v>
                </c:pt>
                <c:pt idx="3">
                  <c:v>103.145</c:v>
                </c:pt>
                <c:pt idx="4">
                  <c:v>148.362</c:v>
                </c:pt>
                <c:pt idx="5">
                  <c:v>164.719</c:v>
                </c:pt>
                <c:pt idx="6">
                  <c:v>170.771</c:v>
                </c:pt>
                <c:pt idx="7">
                  <c:v>173.078</c:v>
                </c:pt>
                <c:pt idx="8">
                  <c:v>182.066</c:v>
                </c:pt>
              </c:numCache>
            </c:numRef>
          </c:yVal>
          <c:smooth val="0"/>
        </c:ser>
        <c:ser>
          <c:idx val="1"/>
          <c:order val="1"/>
          <c:tx>
            <c:strRef>
              <c:f>Sheet1!$C$1</c:f>
              <c:strCache>
                <c:ptCount val="1"/>
                <c:pt idx="0">
                  <c:v>recompute</c:v>
                </c:pt>
              </c:strCache>
            </c:strRef>
          </c:tx>
          <c:spPr>
            <a:solidFill>
              <a:srgbClr val="B4423C"/>
            </a:solidFill>
            <a:ln w="25400" cap="flat">
              <a:solidFill>
                <a:srgbClr val="B4423C"/>
              </a:solidFill>
              <a:prstDash val="solid"/>
              <a:round/>
            </a:ln>
            <a:effectLst/>
          </c:spPr>
          <c:marker>
            <c:symbol val="circle"/>
            <c:size val="6"/>
            <c:spPr>
              <a:solidFill>
                <a:srgbClr val="B4423C"/>
              </a:solidFill>
              <a:ln w="9525" cap="flat">
                <a:solidFill>
                  <a:srgbClr val="B4423C"/>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Sheet1!$C$2:$C$10</c:f>
              <c:numCache>
                <c:formatCode>General</c:formatCode>
                <c:ptCount val="9"/>
                <c:pt idx="0">
                  <c:v>151.921</c:v>
                </c:pt>
                <c:pt idx="1">
                  <c:v>167.871</c:v>
                </c:pt>
                <c:pt idx="2">
                  <c:v>172.497</c:v>
                </c:pt>
                <c:pt idx="3">
                  <c:v>178.418</c:v>
                </c:pt>
                <c:pt idx="4">
                  <c:v>177.634</c:v>
                </c:pt>
                <c:pt idx="5">
                  <c:v>178.454</c:v>
                </c:pt>
                <c:pt idx="6">
                  <c:v>181.179</c:v>
                </c:pt>
                <c:pt idx="7">
                  <c:v>181.268</c:v>
                </c:pt>
                <c:pt idx="8">
                  <c:v>181.315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in val="0"/>
        </c:scaling>
        <c:delete val="0"/>
        <c:axPos val="b"/>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QPS (requested rate)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valAx>
      <c:valAx>
        <c:axId val="2094734552"/>
        <c:scaling>
          <c:orientation val="minMax"/>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mean TPOT (ms/token)</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(c)  Throughput vs QPS</a:t>
            </a:r>
          </a:p>
        </c:rich>
      </c:tx>
      <c:layout/>
      <c:overlay val="0"/>
    </c:title>
    <c:autoTitleDeleted val="0"/>
    <c:plotArea>
      <c:layout/>
      <c:scatterChart>
        <c:scatterStyle val="lineMarker"/>
        <c:varyColors val="0"/>
        <c:ser>
          <c:idx val="0"/>
          <c:order val="0"/>
          <c:tx>
            <c:strRef>
              <c:f>Sheet1!$B$1</c:f>
              <c:strCache>
                <c:ptCount val="1"/>
                <c:pt idx="0">
                  <c:v>cached</c:v>
                </c:pt>
              </c:strCache>
            </c:strRef>
          </c:tx>
          <c:spPr>
            <a:solidFill>
              <a:srgbClr val="009E73"/>
            </a:solidFill>
            <a:ln w="25400" cap="flat">
              <a:solidFill>
                <a:srgbClr val="009E73"/>
              </a:solidFill>
              <a:prstDash val="solid"/>
              <a:round/>
            </a:ln>
            <a:effectLst/>
          </c:spPr>
          <c:marker>
            <c:symbol val="circle"/>
            <c:size val="6"/>
            <c:spPr>
              <a:solidFill>
                <a:srgbClr val="009E73"/>
              </a:solidFill>
              <a:ln w="9525" cap="flat">
                <a:solidFill>
                  <a:srgbClr val="009E73"/>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Sheet1!$B$2:$B$10</c:f>
              <c:numCache>
                <c:formatCode>General</c:formatCode>
                <c:ptCount val="9"/>
                <c:pt idx="0">
                  <c:v>187</c:v>
                </c:pt>
                <c:pt idx="1">
                  <c:v>491.2</c:v>
                </c:pt>
                <c:pt idx="2">
                  <c:v>797.3</c:v>
                </c:pt>
                <c:pt idx="3">
                  <c:v>1014.5</c:v>
                </c:pt>
                <c:pt idx="4">
                  <c:v>1111.7</c:v>
                </c:pt>
                <c:pt idx="5">
                  <c:v>1223.6</c:v>
                </c:pt>
                <c:pt idx="6">
                  <c:v>1254.7</c:v>
                </c:pt>
                <c:pt idx="7">
                  <c:v>1317.1</c:v>
                </c:pt>
                <c:pt idx="8">
                  <c:v>1348.3</c:v>
                </c:pt>
              </c:numCache>
            </c:numRef>
          </c:yVal>
          <c:smooth val="0"/>
        </c:ser>
        <c:ser>
          <c:idx val="1"/>
          <c:order val="1"/>
          <c:tx>
            <c:strRef>
              <c:f>Sheet1!$C$1</c:f>
              <c:strCache>
                <c:ptCount val="1"/>
                <c:pt idx="0">
                  <c:v>recompute</c:v>
                </c:pt>
              </c:strCache>
            </c:strRef>
          </c:tx>
          <c:spPr>
            <a:solidFill>
              <a:srgbClr val="B4423C"/>
            </a:solidFill>
            <a:ln w="25400" cap="flat">
              <a:solidFill>
                <a:srgbClr val="B4423C"/>
              </a:solidFill>
              <a:prstDash val="solid"/>
              <a:round/>
            </a:ln>
            <a:effectLst/>
          </c:spPr>
          <c:marker>
            <c:symbol val="circle"/>
            <c:size val="6"/>
            <c:spPr>
              <a:solidFill>
                <a:srgbClr val="B4423C"/>
              </a:solidFill>
              <a:ln w="9525" cap="flat">
                <a:solidFill>
                  <a:srgbClr val="B4423C"/>
                </a:solidFill>
                <a:prstDash val="solid"/>
                <a:round/>
              </a:ln>
              <a:effectLst/>
            </c:spPr>
          </c:marker>
          <c:xVal>
            <c:numRef>
              <c:f>Sheet1!$A$2:$A$10</c:f>
              <c:numCache>
                <c:formatCode>General</c:formatCode>
                <c:ptCount val="9"/>
                <c:pt idx="0">
                  <c:v>2</c:v>
                </c:pt>
                <c:pt idx="1">
                  <c:v>4</c:v>
                </c:pt>
                <c:pt idx="2">
                  <c:v>8</c:v>
                </c:pt>
                <c:pt idx="3">
                  <c:v>12</c:v>
                </c:pt>
                <c:pt idx="4">
                  <c:v>16</c:v>
                </c:pt>
                <c:pt idx="5">
                  <c:v>24</c:v>
                </c:pt>
                <c:pt idx="6">
                  <c:v>32</c:v>
                </c:pt>
                <c:pt idx="7">
                  <c:v>48</c:v>
                </c:pt>
                <c:pt idx="8">
                  <c:v>64</c:v>
                </c:pt>
              </c:numCache>
            </c:numRef>
          </c:xVal>
          <c:yVal>
            <c:numRef>
              <c:f>Sheet1!$C$2:$C$10</c:f>
              <c:numCache>
                <c:formatCode>General</c:formatCode>
                <c:ptCount val="9"/>
                <c:pt idx="0">
                  <c:v>78.7</c:v>
                </c:pt>
                <c:pt idx="1">
                  <c:v>81</c:v>
                </c:pt>
                <c:pt idx="2">
                  <c:v>81.1</c:v>
                </c:pt>
                <c:pt idx="3">
                  <c:v>81.8</c:v>
                </c:pt>
                <c:pt idx="4">
                  <c:v>81.6</c:v>
                </c:pt>
                <c:pt idx="5">
                  <c:v>81.7</c:v>
                </c:pt>
                <c:pt idx="6">
                  <c:v>80.7</c:v>
                </c:pt>
                <c:pt idx="7">
                  <c:v>79.9</c:v>
                </c:pt>
                <c:pt idx="8">
                  <c:v>79.5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in val="0"/>
        </c:scaling>
        <c:delete val="0"/>
        <c:axPos val="b"/>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QPS (requested rate)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valAx>
      <c:valAx>
        <c:axId val="2094734552"/>
        <c:scaling>
          <c:orientation val="minMax"/>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total throughput (tok/s)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native PowerPoint charts: right-click &gt; Edit Data for values, or the Chart Design / Format tabs for colours and axes.
Scatter rather than line, because the QPS points are unevenly spaced (2,4,8,...,64) and a line chart would place them at equal intervals, flattening the knee.
The TTFT tail on recompute sits at the client timeout, not at a measured latency, and by 64 QPS most of its requests never finished -- see the caption.
Source: results/intro/fig_qps_sweep.json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201168"/>
            <a:ext cx="11338560" cy="411480"/>
          </a:xfrm>
          <a:prstGeom prst="rect">
            <a:avLst/>
          </a:prstGeom>
          <a:noFill/>
          <a:ln/>
        </p:spPr>
        <p:txBody>
          <a:bodyPr wrap="square" lIns="0" tIns="0" rIns="0" bIns="0" rtlCol="0" anchor="ctr"/>
          <a:lstStyle/>
          <a:p>
            <a:pPr indent="0" marL="0">
              <a:buNone/>
            </a:pPr>
            <a:r>
              <a:rPr lang="en-US" sz="2400" b="1" dirty="0">
                <a:solidFill>
                  <a:srgbClr val="1A1A1A"/>
                </a:solidFill>
                <a:latin typeface="Times New Roman" pitchFamily="34" charset="0"/>
                <a:ea typeface="Times New Roman" pitchFamily="34" charset="-122"/>
                <a:cs typeface="Times New Roman" pitchFamily="34" charset="-120"/>
              </a:rPr>
              <a:t>Prefix reuse holds latency down until the server saturates</a:t>
            </a:r>
            <a:endParaRPr lang="en-US" sz="2400" dirty="0"/>
          </a:p>
        </p:txBody>
      </p:sp>
      <p:sp>
        <p:nvSpPr>
          <p:cNvPr id="3" name="Text 1"/>
          <p:cNvSpPr/>
          <p:nvPr/>
        </p:nvSpPr>
        <p:spPr>
          <a:xfrm>
            <a:off x="411480" y="621792"/>
            <a:ext cx="11338560" cy="274320"/>
          </a:xfrm>
          <a:prstGeom prst="rect">
            <a:avLst/>
          </a:prstGeom>
          <a:noFill/>
          <a:ln/>
        </p:spPr>
        <p:txBody>
          <a:bodyPr wrap="square" lIns="0" tIns="0" rIns="0" bIns="0" rtlCol="0" anchor="ctr"/>
          <a:lstStyle/>
          <a:p>
            <a:pPr indent="0" marL="0">
              <a:buNone/>
            </a:pPr>
            <a:r>
              <a:rPr lang="en-US" sz="1100" i="1" dirty="0">
                <a:solidFill>
                  <a:srgbClr val="595959"/>
                </a:solidFill>
                <a:latin typeface="Times New Roman" pitchFamily="34" charset="0"/>
                <a:ea typeface="Times New Roman" pitchFamily="34" charset="-122"/>
                <a:cs typeface="Times New Roman" pitchFamily="34" charset="-120"/>
              </a:rPr>
              <a:t>context 8000 tokens · 128 new tokens · 20 s per point · SGLang 2P2D · 4× RTX A6000</a:t>
            </a:r>
            <a:endParaRPr lang="en-US" sz="1100" dirty="0"/>
          </a:p>
        </p:txBody>
      </p:sp>
      <p:graphicFrame>
        <p:nvGraphicFramePr>
          <p:cNvPr id="4" name="Chart 0" descr=""/>
          <p:cNvGraphicFramePr/>
          <p:nvPr/>
        </p:nvGraphicFramePr>
        <p:xfrm>
          <a:off x="640080" y="1051560"/>
          <a:ext cx="35204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89120" y="1051560"/>
          <a:ext cx="3520440" cy="393192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38160" y="1051560"/>
          <a:ext cx="3520440" cy="393192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4480560" y="5285232"/>
            <a:ext cx="384048" cy="0"/>
          </a:xfrm>
          <a:prstGeom prst="line">
            <a:avLst/>
          </a:prstGeom>
          <a:noFill/>
          <a:ln w="28575">
            <a:solidFill>
              <a:srgbClr val="009E73"/>
            </a:solidFill>
            <a:prstDash val="solid"/>
          </a:ln>
        </p:spPr>
      </p:sp>
      <p:sp>
        <p:nvSpPr>
          <p:cNvPr id="8" name="Text 3"/>
          <p:cNvSpPr/>
          <p:nvPr/>
        </p:nvSpPr>
        <p:spPr>
          <a:xfrm>
            <a:off x="4937760" y="5120640"/>
            <a:ext cx="1280160" cy="365760"/>
          </a:xfrm>
          <a:prstGeom prst="rect">
            <a:avLst/>
          </a:prstGeom>
          <a:noFill/>
          <a:ln/>
        </p:spPr>
        <p:txBody>
          <a:bodyPr wrap="square" lIns="0" tIns="0" rIns="0" bIns="0" rtlCol="0" anchor="ctr"/>
          <a:lstStyle/>
          <a:p>
            <a:pPr indent="0" marL="0">
              <a:buNone/>
            </a:pPr>
            <a:r>
              <a:rPr lang="en-US" sz="1200" dirty="0">
                <a:solidFill>
                  <a:srgbClr val="1A1A1A"/>
                </a:solidFill>
                <a:latin typeface="Times New Roman" pitchFamily="34" charset="0"/>
                <a:ea typeface="Times New Roman" pitchFamily="34" charset="-122"/>
                <a:cs typeface="Times New Roman" pitchFamily="34" charset="-120"/>
              </a:rPr>
              <a:t>cached</a:t>
            </a:r>
            <a:endParaRPr lang="en-US" sz="1200" dirty="0"/>
          </a:p>
        </p:txBody>
      </p:sp>
      <p:sp>
        <p:nvSpPr>
          <p:cNvPr id="9" name="Shape 4"/>
          <p:cNvSpPr/>
          <p:nvPr/>
        </p:nvSpPr>
        <p:spPr>
          <a:xfrm>
            <a:off x="6217920" y="5285232"/>
            <a:ext cx="384048" cy="0"/>
          </a:xfrm>
          <a:prstGeom prst="line">
            <a:avLst/>
          </a:prstGeom>
          <a:noFill/>
          <a:ln w="28575">
            <a:solidFill>
              <a:srgbClr val="B4423C"/>
            </a:solidFill>
            <a:prstDash val="solid"/>
          </a:ln>
        </p:spPr>
      </p:sp>
      <p:sp>
        <p:nvSpPr>
          <p:cNvPr id="10" name="Text 5"/>
          <p:cNvSpPr/>
          <p:nvPr/>
        </p:nvSpPr>
        <p:spPr>
          <a:xfrm>
            <a:off x="6675120" y="5120640"/>
            <a:ext cx="1280160" cy="365760"/>
          </a:xfrm>
          <a:prstGeom prst="rect">
            <a:avLst/>
          </a:prstGeom>
          <a:noFill/>
          <a:ln/>
        </p:spPr>
        <p:txBody>
          <a:bodyPr wrap="square" lIns="0" tIns="0" rIns="0" bIns="0" rtlCol="0" anchor="ctr"/>
          <a:lstStyle/>
          <a:p>
            <a:pPr indent="0" marL="0">
              <a:buNone/>
            </a:pPr>
            <a:r>
              <a:rPr lang="en-US" sz="1200" dirty="0">
                <a:solidFill>
                  <a:srgbClr val="1A1A1A"/>
                </a:solidFill>
                <a:latin typeface="Times New Roman" pitchFamily="34" charset="0"/>
                <a:ea typeface="Times New Roman" pitchFamily="34" charset="-122"/>
                <a:cs typeface="Times New Roman" pitchFamily="34" charset="-120"/>
              </a:rPr>
              <a:t>recompute</a:t>
            </a:r>
            <a:endParaRPr lang="en-US" sz="1200" dirty="0"/>
          </a:p>
        </p:txBody>
      </p:sp>
      <p:sp>
        <p:nvSpPr>
          <p:cNvPr id="11" name="Text 6"/>
          <p:cNvSpPr/>
          <p:nvPr/>
        </p:nvSpPr>
        <p:spPr>
          <a:xfrm>
            <a:off x="411480" y="5669280"/>
            <a:ext cx="11338560" cy="731520"/>
          </a:xfrm>
          <a:prstGeom prst="rect">
            <a:avLst/>
          </a:prstGeom>
          <a:noFill/>
          <a:ln/>
        </p:spPr>
        <p:txBody>
          <a:bodyPr wrap="square" lIns="0" tIns="0" rIns="0" bIns="0" rtlCol="0" anchor="ctr"/>
          <a:lstStyle/>
          <a:p>
            <a:pPr indent="0" marL="0">
              <a:buNone/>
            </a:pPr>
            <a:r>
              <a:rPr lang="en-US" sz="1100" dirty="0">
                <a:solidFill>
                  <a:srgbClr val="595959"/>
                </a:solidFill>
                <a:latin typeface="Times New Roman" pitchFamily="34" charset="0"/>
                <a:ea typeface="Times New Roman" pitchFamily="34" charset="-122"/>
                <a:cs typeface="Times New Roman" pitchFamily="34" charset="-120"/>
              </a:rPr>
              <a:t>Note — cached: unfinished requests appear from 64 QPS (15% by 64 QPS) · recompute: unfinished requests appear from 24 QPS (58% by 64 QPS). Beyond those rates panel (a) is bounded by the client timeout rather than by the server, and every mean is taken over the requests that finished, so the flat tails understate how far behind the system actually 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Prefix reuse under increasing offered load</dc:title>
  <dc:subject>PptxGenJS Presentation</dc:subject>
  <dc:creator>SGLang KV placement experiment</dc:creator>
  <cp:lastModifiedBy>SGLang KV placement experiment</cp:lastModifiedBy>
  <cp:revision>1</cp:revision>
  <dcterms:created xsi:type="dcterms:W3CDTF">2026-08-03T10:54:19Z</dcterms:created>
  <dcterms:modified xsi:type="dcterms:W3CDTF">2026-08-03T10:54:19Z</dcterms:modified>
</cp:coreProperties>
</file>