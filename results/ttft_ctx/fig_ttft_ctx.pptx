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imes New Roman"/>
              </a:rPr>
              <a:t>(a)  Time to first token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Recompute</c:v>
                </c:pt>
              </c:strCache>
            </c:strRef>
          </c:tx>
          <c:spPr>
            <a:solidFill>
              <a:srgbClr val="B4423C"/>
            </a:solidFill>
            <a:ln w="25400" cap="flat">
              <a:solidFill>
                <a:srgbClr val="B442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4423C"/>
              </a:solidFill>
              <a:ln w="9525" cap="flat">
                <a:solidFill>
                  <a:srgbClr val="B4423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4096</c:v>
                </c:pt>
                <c:pt idx="1">
                  <c:v>8192</c:v>
                </c:pt>
                <c:pt idx="2">
                  <c:v>16384</c:v>
                </c:pt>
                <c:pt idx="3">
                  <c:v>32768</c:v>
                </c:pt>
                <c:pt idx="4">
                  <c:v>65536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0.874</c:v>
                </c:pt>
                <c:pt idx="1">
                  <c:v>1.5188</c:v>
                </c:pt>
                <c:pt idx="2">
                  <c:v>3.0583</c:v>
                </c:pt>
                <c:pt idx="3">
                  <c:v>7.187</c:v>
                </c:pt>
                <c:pt idx="4">
                  <c:v>19.1838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SGLang</c:v>
                </c:pt>
              </c:strCache>
            </c:strRef>
          </c:tx>
          <c:spPr>
            <a:solidFill>
              <a:srgbClr val="0072B2"/>
            </a:solidFill>
            <a:ln w="25400" cap="flat">
              <a:solidFill>
                <a:srgbClr val="0072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2B2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4096</c:v>
                </c:pt>
                <c:pt idx="1">
                  <c:v>8192</c:v>
                </c:pt>
                <c:pt idx="2">
                  <c:v>16384</c:v>
                </c:pt>
                <c:pt idx="3">
                  <c:v>32768</c:v>
                </c:pt>
                <c:pt idx="4">
                  <c:v>65536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0.3164</c:v>
                </c:pt>
                <c:pt idx="1">
                  <c:v>0.592</c:v>
                </c:pt>
                <c:pt idx="2">
                  <c:v>1.1872</c:v>
                </c:pt>
                <c:pt idx="3">
                  <c:v>2.5155</c:v>
                </c:pt>
                <c:pt idx="4">
                  <c:v>19.4079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 (host DRAM)</c:v>
                </c:pt>
              </c:strCache>
            </c:strRef>
          </c:tx>
          <c:spPr>
            <a:solidFill>
              <a:srgbClr val="E69F00"/>
            </a:solidFill>
            <a:ln w="25400" cap="flat">
              <a:solidFill>
                <a:srgbClr val="E69F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9F00"/>
              </a:solidFill>
              <a:ln w="9525" cap="flat">
                <a:solidFill>
                  <a:srgbClr val="E69F00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4096</c:v>
                </c:pt>
                <c:pt idx="1">
                  <c:v>8192</c:v>
                </c:pt>
                <c:pt idx="2">
                  <c:v>16384</c:v>
                </c:pt>
                <c:pt idx="3">
                  <c:v>32768</c:v>
                </c:pt>
                <c:pt idx="4">
                  <c:v>65536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0">
                  <c:v>0.3353</c:v>
                </c:pt>
                <c:pt idx="1">
                  <c:v>0.5977</c:v>
                </c:pt>
                <c:pt idx="2">
                  <c:v>1.2178</c:v>
                </c:pt>
                <c:pt idx="3">
                  <c:v>2.4497</c:v>
                </c:pt>
                <c:pt idx="4">
                  <c:v>24.0292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009E73"/>
            </a:solidFill>
            <a:ln w="25400" cap="flat">
              <a:solidFill>
                <a:srgbClr val="009E7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9E73"/>
              </a:solidFill>
              <a:ln w="9525" cap="flat">
                <a:solidFill>
                  <a:srgbClr val="009E73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4096</c:v>
                </c:pt>
                <c:pt idx="1">
                  <c:v>8192</c:v>
                </c:pt>
                <c:pt idx="2">
                  <c:v>16384</c:v>
                </c:pt>
                <c:pt idx="3">
                  <c:v>32768</c:v>
                </c:pt>
                <c:pt idx="4">
                  <c:v>65536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0">
                  <c:v>0.3117</c:v>
                </c:pt>
                <c:pt idx="1">
                  <c:v>0.635</c:v>
                </c:pt>
                <c:pt idx="2">
                  <c:v>1.1116</c:v>
                </c:pt>
                <c:pt idx="3">
                  <c:v>2.4092</c:v>
                </c:pt>
                <c:pt idx="4">
                  <c:v>4.6009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context length (tokens)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TTFT (median, s)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imes New Roman"/>
              </a:rPr>
              <a:t>(b)  Speedup over recompute  (1.0 = no better than no cache)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SGLang</c:v>
                </c:pt>
              </c:strCache>
            </c:strRef>
          </c:tx>
          <c:spPr>
            <a:solidFill>
              <a:srgbClr val="0072B2"/>
            </a:solidFill>
            <a:ln w="25400" cap="flat">
              <a:solidFill>
                <a:srgbClr val="0072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2B2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4096</c:v>
                </c:pt>
                <c:pt idx="1">
                  <c:v>8192</c:v>
                </c:pt>
                <c:pt idx="2">
                  <c:v>16384</c:v>
                </c:pt>
                <c:pt idx="3">
                  <c:v>32768</c:v>
                </c:pt>
                <c:pt idx="4">
                  <c:v>65536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2.762</c:v>
                </c:pt>
                <c:pt idx="1">
                  <c:v>2.566</c:v>
                </c:pt>
                <c:pt idx="2">
                  <c:v>2.576</c:v>
                </c:pt>
                <c:pt idx="3">
                  <c:v>2.857</c:v>
                </c:pt>
                <c:pt idx="4">
                  <c:v>0.988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 (host DRAM)</c:v>
                </c:pt>
              </c:strCache>
            </c:strRef>
          </c:tx>
          <c:spPr>
            <a:solidFill>
              <a:srgbClr val="E69F00"/>
            </a:solidFill>
            <a:ln w="25400" cap="flat">
              <a:solidFill>
                <a:srgbClr val="E69F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9F00"/>
              </a:solidFill>
              <a:ln w="9525" cap="flat">
                <a:solidFill>
                  <a:srgbClr val="E69F00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4096</c:v>
                </c:pt>
                <c:pt idx="1">
                  <c:v>8192</c:v>
                </c:pt>
                <c:pt idx="2">
                  <c:v>16384</c:v>
                </c:pt>
                <c:pt idx="3">
                  <c:v>32768</c:v>
                </c:pt>
                <c:pt idx="4">
                  <c:v>65536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2.607</c:v>
                </c:pt>
                <c:pt idx="1">
                  <c:v>2.541</c:v>
                </c:pt>
                <c:pt idx="2">
                  <c:v>2.511</c:v>
                </c:pt>
                <c:pt idx="3">
                  <c:v>2.934</c:v>
                </c:pt>
                <c:pt idx="4">
                  <c:v>0.798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009E73"/>
            </a:solidFill>
            <a:ln w="25400" cap="flat">
              <a:solidFill>
                <a:srgbClr val="009E7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9E73"/>
              </a:solidFill>
              <a:ln w="9525" cap="flat">
                <a:solidFill>
                  <a:srgbClr val="009E73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4096</c:v>
                </c:pt>
                <c:pt idx="1">
                  <c:v>8192</c:v>
                </c:pt>
                <c:pt idx="2">
                  <c:v>16384</c:v>
                </c:pt>
                <c:pt idx="3">
                  <c:v>32768</c:v>
                </c:pt>
                <c:pt idx="4">
                  <c:v>65536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0">
                  <c:v>2.804</c:v>
                </c:pt>
                <c:pt idx="1">
                  <c:v>2.392</c:v>
                </c:pt>
                <c:pt idx="2">
                  <c:v>2.751</c:v>
                </c:pt>
                <c:pt idx="3">
                  <c:v>2.983</c:v>
                </c:pt>
                <c:pt idx="4">
                  <c:v>4.17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context length (tokens)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speedup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Times New Roman"/>
              </a:rPr>
              <a:t>(d)  64k: best rep vs. median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rep</c:v>
                </c:pt>
              </c:strCache>
            </c:strRef>
          </c:tx>
          <c:spPr>
            <a:solidFill>
              <a:srgbClr val="9DC3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Recompute</c:v>
                  </c:pt>
                  <c:pt idx="1">
                    <c:v>SGLang</c:v>
                  </c:pt>
                  <c:pt idx="2">
                    <c:v>Ours (host DRAM)</c:v>
                  </c:pt>
                  <c:pt idx="3">
                    <c:v>Ours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19.0357</c:v>
                </c:pt>
                <c:pt idx="1">
                  <c:v>5.1146</c:v>
                </c:pt>
                <c:pt idx="2">
                  <c:v>5.4887</c:v>
                </c:pt>
                <c:pt idx="3">
                  <c:v>4.5956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Recompute</c:v>
                  </c:pt>
                  <c:pt idx="1">
                    <c:v>SGLang</c:v>
                  </c:pt>
                  <c:pt idx="2">
                    <c:v>Ours (host DRAM)</c:v>
                  </c:pt>
                  <c:pt idx="3">
                    <c:v>Ours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19.1838</c:v>
                </c:pt>
                <c:pt idx="1">
                  <c:v>19.4079</c:v>
                </c:pt>
                <c:pt idx="2">
                  <c:v>24.0292</c:v>
                </c:pt>
                <c:pt idx="3">
                  <c:v>4.6009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TTFT (s)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charts are native PowerPoint charts: right-click &gt; Edit Data for values, or the Chart Design / Format tabs for colours and axes.
In (b), 1.0 means the arm did no better than recomputing the prefix from scratch.
The medians at 64k hide a bimodal per-rep distribution -- see the next slide.
Source: results/ttft_ctx/&lt;arm&gt;.json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Bimodality at 64k: hicache best 5.11s / median 19.41s, Ours(host) best 5.49s / median 24.03s, Ours best 4.60s / median 4.60s (all three reps restored).
Ours(host) is the FORCE_HOST ablation -- same index, eviction, reuse ranking and fetch code as Ours, park pool still allocated so the arms are memory-matched, only the storage medium moves to pinned host DRAM over PCIe.
n=3 reps: the hit-rate difference (3/3 vs 1/3) is suggestive, not yet tight.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GPU-resident KV keeps prefix reuse working where host offload gives 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Llama-3.1-8B · SGLang 2P2D · 4x RTX A6000 · median of 3 reps · context 4k, 8k, 16k, 32k, 64k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737360" y="1188720"/>
          <a:ext cx="4206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0" y="1188720"/>
          <a:ext cx="4206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1463040" y="5513832"/>
            <a:ext cx="384048" cy="0"/>
          </a:xfrm>
          <a:prstGeom prst="line">
            <a:avLst/>
          </a:prstGeom>
          <a:noFill/>
          <a:ln w="28575">
            <a:solidFill>
              <a:srgbClr val="B442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920240" y="5349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Recompute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840480" y="5513832"/>
            <a:ext cx="384048" cy="0"/>
          </a:xfrm>
          <a:prstGeom prst="line">
            <a:avLst/>
          </a:prstGeom>
          <a:noFill/>
          <a:ln w="28575">
            <a:solidFill>
              <a:srgbClr val="0072B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297680" y="5349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SGLang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5513832"/>
            <a:ext cx="384048" cy="0"/>
          </a:xfrm>
          <a:prstGeom prst="line">
            <a:avLst/>
          </a:prstGeom>
          <a:noFill/>
          <a:ln w="28575">
            <a:solidFill>
              <a:srgbClr val="E69F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75120" y="5349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Ours (host DRAM)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595360" y="5513832"/>
            <a:ext cx="384048" cy="0"/>
          </a:xfrm>
          <a:prstGeom prst="line">
            <a:avLst/>
          </a:prstGeom>
          <a:noFill/>
          <a:ln w="28575">
            <a:solidFill>
              <a:srgbClr val="009E7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052560" y="5349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64k the median hides how OFTEN the restore happened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arm except Ours is bimodal here: its best repetition restores the prefix in ~5s, its median falls through to a full re-prefill. So the median gap is mostly a difference in how RELIABLY the restore happens, not in how fast the transfer is.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377440" y="1280160"/>
          <a:ext cx="7406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figure, as rendered (plot_ttft_ctx_panels.py)</a:t>
            </a:r>
            <a:endParaRPr lang="en-US" sz="1800" dirty="0"/>
          </a:p>
        </p:txBody>
      </p:sp>
      <p:pic>
        <p:nvPicPr>
          <p:cNvPr id="3" name="Image 0" descr="results/ttft_ctx/fig_ttft_ctx_pa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7240"/>
            <a:ext cx="10332720" cy="72155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35508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results/ttft_ctx/fig_ttft_ctx_panels.png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GPU-resident KV keeps prefix reuse working where host offload gives up</dc:title>
  <dc:subject>PptxGenJS Presentation</dc:subject>
  <dc:creator>SGLang KV placement experiment</dc:creator>
  <cp:lastModifiedBy>SGLang KV placement experiment</cp:lastModifiedBy>
  <cp:revision>1</cp:revision>
  <dcterms:created xsi:type="dcterms:W3CDTF">2026-08-11T03:56:14Z</dcterms:created>
  <dcterms:modified xsi:type="dcterms:W3CDTF">2026-08-11T03:56:14Z</dcterms:modified>
</cp:coreProperties>
</file>