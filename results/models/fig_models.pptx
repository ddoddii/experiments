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(a)  Cache hit rate</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55.72</c:v>
                </c:pt>
                <c:pt idx="1">
                  <c:v>35.15</c:v>
                </c:pt>
                <c:pt idx="2">
                  <c:v>56.54</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95.71</c:v>
                </c:pt>
                <c:pt idx="1">
                  <c:v>58.3</c:v>
                </c:pt>
                <c:pt idx="2">
                  <c:v>78.06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Cache Hit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(b)  Time to first token</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0.882</c:v>
                </c:pt>
                <c:pt idx="1">
                  <c:v>1.035</c:v>
                </c:pt>
                <c:pt idx="2">
                  <c:v>0.831</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0.671</c:v>
                </c:pt>
                <c:pt idx="1">
                  <c:v>1.056</c:v>
                </c:pt>
                <c:pt idx="2">
                  <c:v>0.706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lineChart>
        <c:varyColors val="0"/>
        <c:ser>
          <c:idx val="3"/>
          <c:order val="3"/>
          <c:tx>
            <c:strRef>
              <c:f>Sheet1!$E$1</c:f>
              <c:strCache>
                <c:ptCount val="1"/>
                <c:pt idx="0">
                  <c:v>Baseline (Recompute = 1.0)</c:v>
                </c:pt>
              </c:strCache>
            </c:strRef>
          </c:tx>
          <c:spPr>
            <a:solidFill>
              <a:srgbClr val="1A1A1A"/>
            </a:solidFill>
            <a:ln w="1905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Sheet1!$A$2:$A$4</c:f>
              <c:multiLvlStrCache>
                <c:ptCount val="3"/>
                <c:lvl>
                  <c:pt idx="0">
                    <c:v>Llama-3.1-8B</c:v>
                  </c:pt>
                  <c:pt idx="1">
                    <c:v>Llama-2-13B</c:v>
                  </c:pt>
                  <c:pt idx="2">
                    <c:v>Qwen3-14B</c:v>
                  </c:pt>
                </c:lvl>
              </c:multiLvlStrCache>
            </c:multiLvlStrRef>
          </c:cat>
          <c:val>
            <c:numRef>
              <c:f>Sheet1!$E$2:$E$4</c:f>
              <c:numCache>
                <c:formatCode>General</c:formatCode>
                <c:ptCount val="3"/>
                <c:pt idx="0">
                  <c:v>1</c:v>
                </c:pt>
                <c:pt idx="1">
                  <c:v>1</c:v>
                </c:pt>
                <c:pt idx="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25"/>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Normalized TTFT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(c)  Throughput</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250.8</c:v>
                </c:pt>
                <c:pt idx="1">
                  <c:v>52.6</c:v>
                </c:pt>
                <c:pt idx="2">
                  <c:v>88.5</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431.7</c:v>
                </c:pt>
                <c:pt idx="1">
                  <c:v>82.6</c:v>
                </c:pt>
                <c:pt idx="2">
                  <c:v>120.6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Throughput (t/s)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(d)  Host memory</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16.56</c:v>
                </c:pt>
                <c:pt idx="1">
                  <c:v>14.81</c:v>
                </c:pt>
                <c:pt idx="2">
                  <c:v>16.53</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34.18</c:v>
                </c:pt>
                <c:pt idx="1">
                  <c:v>29.79</c:v>
                </c:pt>
                <c:pt idx="2">
                  <c:v>23.36</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16.64</c:v>
                </c:pt>
                <c:pt idx="1">
                  <c:v>15.17</c:v>
                </c:pt>
                <c:pt idx="2">
                  <c:v>16.16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Host DRAM (GB)</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are native PowerPoint charts: right-click &gt; Edit Data to change values, or the Chart Design / Format tabs for colours and axes.
TTFT is normalised to Recompute within each model, because absolute TTFT is set mostly by model size and would invite comparison across models.
Recompute has no cache, so its hit rate and cache-served throughput are 0 by construction, not missing data.
Source: results/models/{llama8b,llama13b,qwen14b}/table.json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11480" y="201168"/>
            <a:ext cx="11338560" cy="411480"/>
          </a:xfrm>
          <a:prstGeom prst="rect">
            <a:avLst/>
          </a:prstGeom>
          <a:noFill/>
          <a:ln/>
        </p:spPr>
        <p:txBody>
          <a:bodyPr wrap="square" lIns="0" tIns="0" rIns="0" bIns="0" rtlCol="0" anchor="ctr"/>
          <a:lstStyle/>
          <a:p>
            <a:pPr indent="0" marL="0">
              <a:buNone/>
            </a:pPr>
            <a:r>
              <a:rPr lang="en-US" sz="2400" b="1" dirty="0">
                <a:solidFill>
                  <a:srgbClr val="1A1A1A"/>
                </a:solidFill>
                <a:latin typeface="Times New Roman" pitchFamily="34" charset="0"/>
                <a:ea typeface="Times New Roman" pitchFamily="34" charset="-122"/>
                <a:cs typeface="Times New Roman" pitchFamily="34" charset="-120"/>
              </a:rPr>
              <a:t>GPU-first KV placement holds across model families</a:t>
            </a:r>
            <a:endParaRPr lang="en-US" sz="2400" dirty="0"/>
          </a:p>
        </p:txBody>
      </p:sp>
      <p:sp>
        <p:nvSpPr>
          <p:cNvPr id="3" name="Text 1"/>
          <p:cNvSpPr/>
          <p:nvPr/>
        </p:nvSpPr>
        <p:spPr>
          <a:xfrm>
            <a:off x="411480" y="621792"/>
            <a:ext cx="11338560" cy="274320"/>
          </a:xfrm>
          <a:prstGeom prst="rect">
            <a:avLst/>
          </a:prstGeom>
          <a:noFill/>
          <a:ln/>
        </p:spPr>
        <p:txBody>
          <a:bodyPr wrap="square" lIns="0" tIns="0" rIns="0" bIns="0" rtlCol="0" anchor="ctr"/>
          <a:lstStyle/>
          <a:p>
            <a:pPr indent="0" marL="0">
              <a:buNone/>
            </a:pPr>
            <a:r>
              <a:rPr lang="en-US" sz="1100" i="1" dirty="0">
                <a:solidFill>
                  <a:srgbClr val="595959"/>
                </a:solidFill>
                <a:latin typeface="Times New Roman" pitchFamily="34" charset="0"/>
                <a:ea typeface="Times New Roman" pitchFamily="34" charset="-122"/>
                <a:cs typeface="Times New Roman" pitchFamily="34" charset="-120"/>
              </a:rPr>
              <a:t>ShareGPT multi-turn · SGLang 2P2D · 4× RTX A6000 · labels are Ours vs. the stronger baseline (host DRAM vs. SGLang, which is the only baseline with a host tier)</a:t>
            </a:r>
            <a:endParaRPr lang="en-US" sz="1100" dirty="0"/>
          </a:p>
        </p:txBody>
      </p:sp>
      <p:graphicFrame>
        <p:nvGraphicFramePr>
          <p:cNvPr id="4" name="Chart 0" descr=""/>
          <p:cNvGraphicFramePr/>
          <p:nvPr/>
        </p:nvGraphicFramePr>
        <p:xfrm>
          <a:off x="411480" y="1051560"/>
          <a:ext cx="2761488"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1.72×</a:t>
            </a:r>
            <a:endParaRPr lang="en-US" sz="1200" dirty="0"/>
          </a:p>
        </p:txBody>
      </p:sp>
      <p:sp>
        <p:nvSpPr>
          <p:cNvPr id="6" name="Text 3"/>
          <p:cNvSpPr/>
          <p:nvPr/>
        </p:nvSpPr>
        <p:spPr>
          <a:xfrm>
            <a:off x="151436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1.66×</a:t>
            </a:r>
            <a:endParaRPr lang="en-US" sz="1200" dirty="0"/>
          </a:p>
        </p:txBody>
      </p:sp>
      <p:sp>
        <p:nvSpPr>
          <p:cNvPr id="7" name="Text 4"/>
          <p:cNvSpPr/>
          <p:nvPr/>
        </p:nvSpPr>
        <p:spPr>
          <a:xfrm>
            <a:off x="236122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1.38×</a:t>
            </a:r>
            <a:endParaRPr lang="en-US" sz="1200" dirty="0"/>
          </a:p>
        </p:txBody>
      </p:sp>
      <p:graphicFrame>
        <p:nvGraphicFramePr>
          <p:cNvPr id="8" name="Chart 1" descr=""/>
          <p:cNvGraphicFramePr/>
          <p:nvPr/>
        </p:nvGraphicFramePr>
        <p:xfrm>
          <a:off x="3291840" y="1051560"/>
          <a:ext cx="2761488" cy="393192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354787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1.31×</a:t>
            </a:r>
            <a:endParaRPr lang="en-US" sz="1200" dirty="0"/>
          </a:p>
        </p:txBody>
      </p:sp>
      <p:sp>
        <p:nvSpPr>
          <p:cNvPr id="10" name="Text 6"/>
          <p:cNvSpPr/>
          <p:nvPr/>
        </p:nvSpPr>
        <p:spPr>
          <a:xfrm>
            <a:off x="439472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0.95×</a:t>
            </a:r>
            <a:endParaRPr lang="en-US" sz="1200" dirty="0"/>
          </a:p>
        </p:txBody>
      </p:sp>
      <p:sp>
        <p:nvSpPr>
          <p:cNvPr id="11" name="Text 7"/>
          <p:cNvSpPr/>
          <p:nvPr/>
        </p:nvSpPr>
        <p:spPr>
          <a:xfrm>
            <a:off x="524158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1.18×</a:t>
            </a:r>
            <a:endParaRPr lang="en-US" sz="1200" dirty="0"/>
          </a:p>
        </p:txBody>
      </p:sp>
      <p:graphicFrame>
        <p:nvGraphicFramePr>
          <p:cNvPr id="12" name="Chart 2" descr=""/>
          <p:cNvGraphicFramePr/>
          <p:nvPr/>
        </p:nvGraphicFramePr>
        <p:xfrm>
          <a:off x="6172200" y="1051560"/>
          <a:ext cx="2761488" cy="393192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p:nvPr/>
        </p:nvSpPr>
        <p:spPr>
          <a:xfrm>
            <a:off x="642823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1.72×</a:t>
            </a:r>
            <a:endParaRPr lang="en-US" sz="1200" dirty="0"/>
          </a:p>
        </p:txBody>
      </p:sp>
      <p:sp>
        <p:nvSpPr>
          <p:cNvPr id="14" name="Text 9"/>
          <p:cNvSpPr/>
          <p:nvPr/>
        </p:nvSpPr>
        <p:spPr>
          <a:xfrm>
            <a:off x="727508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1.57×</a:t>
            </a:r>
            <a:endParaRPr lang="en-US" sz="1200" dirty="0"/>
          </a:p>
        </p:txBody>
      </p:sp>
      <p:sp>
        <p:nvSpPr>
          <p:cNvPr id="15" name="Text 10"/>
          <p:cNvSpPr/>
          <p:nvPr/>
        </p:nvSpPr>
        <p:spPr>
          <a:xfrm>
            <a:off x="812194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1.36×</a:t>
            </a:r>
            <a:endParaRPr lang="en-US" sz="1200" dirty="0"/>
          </a:p>
        </p:txBody>
      </p:sp>
      <p:graphicFrame>
        <p:nvGraphicFramePr>
          <p:cNvPr id="16" name="Chart 3" descr=""/>
          <p:cNvGraphicFramePr/>
          <p:nvPr/>
        </p:nvGraphicFramePr>
        <p:xfrm>
          <a:off x="9052560" y="1051560"/>
          <a:ext cx="2761488" cy="3931920"/>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p:nvPr/>
        </p:nvSpPr>
        <p:spPr>
          <a:xfrm>
            <a:off x="930859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2.05×</a:t>
            </a:r>
            <a:endParaRPr lang="en-US" sz="1200" dirty="0"/>
          </a:p>
        </p:txBody>
      </p:sp>
      <p:sp>
        <p:nvSpPr>
          <p:cNvPr id="18" name="Text 12"/>
          <p:cNvSpPr/>
          <p:nvPr/>
        </p:nvSpPr>
        <p:spPr>
          <a:xfrm>
            <a:off x="1015544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1.96×</a:t>
            </a:r>
            <a:endParaRPr lang="en-US" sz="1200" dirty="0"/>
          </a:p>
        </p:txBody>
      </p:sp>
      <p:sp>
        <p:nvSpPr>
          <p:cNvPr id="19" name="Text 13"/>
          <p:cNvSpPr/>
          <p:nvPr/>
        </p:nvSpPr>
        <p:spPr>
          <a:xfrm>
            <a:off x="1100230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1.45×</a:t>
            </a:r>
            <a:endParaRPr lang="en-US" sz="1200" dirty="0"/>
          </a:p>
        </p:txBody>
      </p:sp>
      <p:sp>
        <p:nvSpPr>
          <p:cNvPr id="20" name="Shape 14"/>
          <p:cNvSpPr/>
          <p:nvPr/>
        </p:nvSpPr>
        <p:spPr>
          <a:xfrm>
            <a:off x="4206240" y="5230368"/>
            <a:ext cx="274320" cy="146304"/>
          </a:xfrm>
          <a:prstGeom prst="rect">
            <a:avLst/>
          </a:prstGeom>
          <a:solidFill>
            <a:srgbClr val="BFC4C9"/>
          </a:solidFill>
          <a:ln w="9525">
            <a:solidFill>
              <a:srgbClr val="1A1A1A"/>
            </a:solidFill>
            <a:prstDash val="solid"/>
          </a:ln>
        </p:spPr>
      </p:sp>
      <p:sp>
        <p:nvSpPr>
          <p:cNvPr id="21" name="Text 15"/>
          <p:cNvSpPr/>
          <p:nvPr/>
        </p:nvSpPr>
        <p:spPr>
          <a:xfrm>
            <a:off x="455371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Recompute</a:t>
            </a:r>
            <a:endParaRPr lang="en-US" sz="1200" dirty="0"/>
          </a:p>
        </p:txBody>
      </p:sp>
      <p:sp>
        <p:nvSpPr>
          <p:cNvPr id="22" name="Shape 16"/>
          <p:cNvSpPr/>
          <p:nvPr/>
        </p:nvSpPr>
        <p:spPr>
          <a:xfrm>
            <a:off x="5623560" y="5230368"/>
            <a:ext cx="274320" cy="146304"/>
          </a:xfrm>
          <a:prstGeom prst="rect">
            <a:avLst/>
          </a:prstGeom>
          <a:solidFill>
            <a:srgbClr val="0072B2"/>
          </a:solidFill>
          <a:ln w="9525">
            <a:solidFill>
              <a:srgbClr val="1A1A1A"/>
            </a:solidFill>
            <a:prstDash val="solid"/>
          </a:ln>
        </p:spPr>
      </p:sp>
      <p:sp>
        <p:nvSpPr>
          <p:cNvPr id="23" name="Text 17"/>
          <p:cNvSpPr/>
          <p:nvPr/>
        </p:nvSpPr>
        <p:spPr>
          <a:xfrm>
            <a:off x="597103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SGLang</a:t>
            </a:r>
            <a:endParaRPr lang="en-US" sz="1200" dirty="0"/>
          </a:p>
        </p:txBody>
      </p:sp>
      <p:sp>
        <p:nvSpPr>
          <p:cNvPr id="24" name="Shape 18"/>
          <p:cNvSpPr/>
          <p:nvPr/>
        </p:nvSpPr>
        <p:spPr>
          <a:xfrm>
            <a:off x="7040880" y="5230368"/>
            <a:ext cx="274320" cy="146304"/>
          </a:xfrm>
          <a:prstGeom prst="rect">
            <a:avLst/>
          </a:prstGeom>
          <a:solidFill>
            <a:srgbClr val="009E73"/>
          </a:solidFill>
          <a:ln w="9525">
            <a:solidFill>
              <a:srgbClr val="1A1A1A"/>
            </a:solidFill>
            <a:prstDash val="solid"/>
          </a:ln>
        </p:spPr>
      </p:sp>
      <p:sp>
        <p:nvSpPr>
          <p:cNvPr id="25" name="Text 19"/>
          <p:cNvSpPr/>
          <p:nvPr/>
        </p:nvSpPr>
        <p:spPr>
          <a:xfrm>
            <a:off x="738835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Ours</a:t>
            </a:r>
            <a:endParaRPr lang="en-US" sz="1200" dirty="0"/>
          </a:p>
        </p:txBody>
      </p:sp>
      <p:sp>
        <p:nvSpPr>
          <p:cNvPr id="26" name="Text 20"/>
          <p:cNvSpPr/>
          <p:nvPr/>
        </p:nvSpPr>
        <p:spPr>
          <a:xfrm>
            <a:off x="411480" y="5715000"/>
            <a:ext cx="11338560" cy="731520"/>
          </a:xfrm>
          <a:prstGeom prst="rect">
            <a:avLst/>
          </a:prstGeom>
          <a:noFill/>
          <a:ln/>
        </p:spPr>
        <p:txBody>
          <a:bodyPr wrap="square" lIns="0" tIns="0" rIns="0" bIns="0" rtlCol="0" anchor="ctr"/>
          <a:lstStyle/>
          <a:p>
            <a:pPr indent="0" marL="0">
              <a:buNone/>
            </a:pPr>
            <a:r>
              <a:rPr lang="en-US" sz="1100" dirty="0">
                <a:solidFill>
                  <a:srgbClr val="595959"/>
                </a:solidFill>
                <a:latin typeface="Times New Roman" pitchFamily="34" charset="0"/>
                <a:ea typeface="Times New Roman" pitchFamily="34" charset="-122"/>
                <a:cs typeface="Times New Roman" pitchFamily="34" charset="-120"/>
              </a:rPr>
              <a:t>Hit rate, throughput and host DRAM improve on all three models. Normalized TTFT is the exception on Llama-2-13B (0.95×): its 4096-position limit caps conversations at four turns, so the re-prefill a hit avoids is small enough that the fetch does not pay for itself — the mechanism still works there (1.66× hit rate), it just has less to win.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GPU-first unified KV placement across models</dc:title>
  <dc:subject>PptxGenJS Presentation</dc:subject>
  <dc:creator>SGLang KV placement experiment</dc:creator>
  <cp:lastModifiedBy>SGLang KV placement experiment</cp:lastModifiedBy>
  <cp:revision>1</cp:revision>
  <dcterms:created xsi:type="dcterms:W3CDTF">2026-08-01T13:13:19Z</dcterms:created>
  <dcterms:modified xsi:type="dcterms:W3CDTF">2026-08-01T13:13:19Z</dcterms:modified>
</cp:coreProperties>
</file>