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Times New Roman"/>
              </a:defRPr>
            </a:pPr>
            <a:r>
              <a:rPr sz="1300" b="0" i="0" u="none" strike="noStrike">
                <a:solidFill>
                  <a:srgbClr val="1A1A1A"/>
                </a:solidFill>
                <a:latin typeface="Times New Roman"/>
              </a:rPr>
              <a:t>(a)  Cache hit rate</a:t>
            </a:r>
          </a:p>
        </c:rich>
      </c:tx>
      <c:layout/>
      <c:overlay val="0"/>
    </c:title>
    <c:autoTitleDeleted val="0"/>
    <c:plotArea>
      <c:layout/>
      <c:barChart>
        <c:barDir val="col"/>
        <c:grouping val="clustered"/>
        <c:varyColors val="0"/>
        <c:ser>
          <c:idx val="0"/>
          <c:order val="0"/>
          <c:tx>
            <c:strRef>
              <c:f>Sheet1!$B$1</c:f>
              <c:strCache>
                <c:ptCount val="1"/>
                <c:pt idx="0">
                  <c:v>Recompute</c:v>
                </c:pt>
              </c:strCache>
            </c:strRef>
          </c:tx>
          <c:spPr>
            <a:solidFill>
              <a:srgbClr val="BFC4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Sheet1!$B$2:$B$4</c:f>
              <c:numCache>
                <c:formatCode>General</c:formatCode>
                <c:ptCount val="3"/>
                <c:pt idx="0">
                  <c:v>0</c:v>
                </c:pt>
                <c:pt idx="1">
                  <c:v>0</c:v>
                </c:pt>
                <c:pt idx="2">
                  <c:v>0</c:v>
                </c:pt>
              </c:numCache>
            </c:numRef>
          </c:val>
        </c:ser>
        <c:ser>
          <c:idx val="1"/>
          <c:order val="1"/>
          <c:tx>
            <c:strRef>
              <c:f>Sheet1!$C$1</c:f>
              <c:strCache>
                <c:ptCount val="1"/>
                <c:pt idx="0">
                  <c:v>SGLang</c:v>
                </c:pt>
              </c:strCache>
            </c:strRef>
          </c:tx>
          <c:spPr>
            <a:solidFill>
              <a:srgbClr val="0072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Sheet1!$C$2:$C$4</c:f>
              <c:numCache>
                <c:formatCode>General</c:formatCode>
                <c:ptCount val="3"/>
                <c:pt idx="0">
                  <c:v>55.72</c:v>
                </c:pt>
                <c:pt idx="1">
                  <c:v>35.15</c:v>
                </c:pt>
                <c:pt idx="2">
                  <c:v>56.54</c:v>
                </c:pt>
              </c:numCache>
            </c:numRef>
          </c:val>
        </c:ser>
        <c:ser>
          <c:idx val="2"/>
          <c:order val="2"/>
          <c:tx>
            <c:strRef>
              <c:f>Sheet1!$D$1</c:f>
              <c:strCache>
                <c:ptCount val="1"/>
                <c:pt idx="0">
                  <c:v>Ours</c:v>
                </c:pt>
              </c:strCache>
            </c:strRef>
          </c:tx>
          <c:spPr>
            <a:solidFill>
              <a:srgbClr val="009E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Sheet1!$D$2:$D$4</c:f>
              <c:numCache>
                <c:formatCode>General</c:formatCode>
                <c:ptCount val="3"/>
                <c:pt idx="0">
                  <c:v>95.71</c:v>
                </c:pt>
                <c:pt idx="1">
                  <c:v>58.3</c:v>
                </c:pt>
                <c:pt idx="2">
                  <c:v>78.06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D9D9D9"/>
              </a:solidFill>
              <a:prstDash val="solid"/>
              <a:round/>
            </a:ln>
          </c:spPr>
        </c:majorGridlines>
        <c:title>
          <c:tx>
            <c:rich>
              <a:bodyPr/>
              <a:lstStyle/>
              <a:p>
                <a:pPr>
                  <a:defRPr sz="1100" b="0" i="0" u="none" strike="noStrike">
                    <a:solidFill>
                      <a:srgbClr val="000000"/>
                    </a:solidFill>
                    <a:latin typeface="Times New Roman"/>
                  </a:defRPr>
                </a:pPr>
                <a:r>
                  <a:rPr sz="1100" b="0" i="0" u="none" strike="noStrike">
                    <a:solidFill>
                      <a:srgbClr val="000000"/>
                    </a:solidFill>
                    <a:latin typeface="Times New Roman"/>
                  </a:rPr>
                  <a:t>Cache Hit Rate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Times New Roman"/>
              </a:defRPr>
            </a:pPr>
            <a:r>
              <a:rPr sz="1300" b="0" i="0" u="none" strike="noStrike">
                <a:solidFill>
                  <a:srgbClr val="1A1A1A"/>
                </a:solidFill>
                <a:latin typeface="Times New Roman"/>
              </a:rPr>
              <a:t>(b)  Time to first token</a:t>
            </a:r>
          </a:p>
        </c:rich>
      </c:tx>
      <c:layout/>
      <c:overlay val="0"/>
    </c:title>
    <c:autoTitleDeleted val="0"/>
    <c:plotArea>
      <c:layout/>
      <c:barChart>
        <c:barDir val="col"/>
        <c:grouping val="clustered"/>
        <c:varyColors val="0"/>
        <c:ser>
          <c:idx val="0"/>
          <c:order val="0"/>
          <c:tx>
            <c:strRef>
              <c:f>Sheet1!$B$1</c:f>
              <c:strCache>
                <c:ptCount val="1"/>
                <c:pt idx="0">
                  <c:v>Recompute</c:v>
                </c:pt>
              </c:strCache>
            </c:strRef>
          </c:tx>
          <c:spPr>
            <a:solidFill>
              <a:srgbClr val="BFC4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Sheet1!$B$2:$B$4</c:f>
              <c:numCache>
                <c:formatCode>General</c:formatCode>
                <c:ptCount val="3"/>
                <c:pt idx="0">
                  <c:v>1</c:v>
                </c:pt>
                <c:pt idx="1">
                  <c:v>1</c:v>
                </c:pt>
                <c:pt idx="2">
                  <c:v>1</c:v>
                </c:pt>
              </c:numCache>
            </c:numRef>
          </c:val>
        </c:ser>
        <c:ser>
          <c:idx val="1"/>
          <c:order val="1"/>
          <c:tx>
            <c:strRef>
              <c:f>Sheet1!$C$1</c:f>
              <c:strCache>
                <c:ptCount val="1"/>
                <c:pt idx="0">
                  <c:v>SGLang</c:v>
                </c:pt>
              </c:strCache>
            </c:strRef>
          </c:tx>
          <c:spPr>
            <a:solidFill>
              <a:srgbClr val="0072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Sheet1!$C$2:$C$4</c:f>
              <c:numCache>
                <c:formatCode>General</c:formatCode>
                <c:ptCount val="3"/>
                <c:pt idx="0">
                  <c:v>0.882</c:v>
                </c:pt>
                <c:pt idx="1">
                  <c:v>1.035</c:v>
                </c:pt>
                <c:pt idx="2">
                  <c:v>0.831</c:v>
                </c:pt>
              </c:numCache>
            </c:numRef>
          </c:val>
        </c:ser>
        <c:ser>
          <c:idx val="2"/>
          <c:order val="2"/>
          <c:tx>
            <c:strRef>
              <c:f>Sheet1!$D$1</c:f>
              <c:strCache>
                <c:ptCount val="1"/>
                <c:pt idx="0">
                  <c:v>Ours</c:v>
                </c:pt>
              </c:strCache>
            </c:strRef>
          </c:tx>
          <c:spPr>
            <a:solidFill>
              <a:srgbClr val="009E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Sheet1!$D$2:$D$4</c:f>
              <c:numCache>
                <c:formatCode>General</c:formatCode>
                <c:ptCount val="3"/>
                <c:pt idx="0">
                  <c:v>0.671</c:v>
                </c:pt>
                <c:pt idx="1">
                  <c:v>1.056</c:v>
                </c:pt>
                <c:pt idx="2">
                  <c:v>0.706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90"/>
        <c:overlap val="0"/>
        <c:axId val="2094734554"/>
        <c:axId val="2094734552"/>
        <c:axId val="2094734556"/>
      </c:barChart>
      <c:lineChart>
        <c:varyColors val="0"/>
        <c:ser>
          <c:idx val="3"/>
          <c:order val="3"/>
          <c:tx>
            <c:strRef>
              <c:f>Sheet1!$E$1</c:f>
              <c:strCache>
                <c:ptCount val="1"/>
                <c:pt idx="0">
                  <c:v>Baseline (Recompute = 1.0)</c:v>
                </c:pt>
              </c:strCache>
            </c:strRef>
          </c:tx>
          <c:spPr>
            <a:solidFill>
              <a:srgbClr val="1A1A1A"/>
            </a:solidFill>
            <a:ln w="19050" cap="flat">
              <a:solidFill>
                <a:srgbClr val="1A1A1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A1A1A"/>
              </a:solidFill>
              <a:ln w="9525" cap="flat">
                <a:solidFill>
                  <a:srgbClr val="1A1A1A"/>
                </a:solidFill>
                <a:prstDash val="solid"/>
                <a:round/>
              </a:ln>
              <a:effectLst/>
            </c:spPr>
          </c:marker>
          <c:cat>
            <c:multiLvlStrRef>
              <c:f>Sheet1!$A$2:$A$4</c:f>
              <c:multiLvlStrCache>
                <c:ptCount val="3"/>
                <c:lvl>
                  <c:pt idx="0">
                    <c:v>Llama-3.1-8B</c:v>
                  </c:pt>
                  <c:pt idx="1">
                    <c:v>Llama-2-13B</c:v>
                  </c:pt>
                  <c:pt idx="2">
                    <c:v>Qwen3-14B</c:v>
                  </c:pt>
                </c:lvl>
              </c:multiLvlStrCache>
            </c:multiLvlStrRef>
          </c:cat>
          <c:val>
            <c:numRef>
              <c:f>Sheet1!$E$2:$E$4</c:f>
              <c:numCache>
                <c:formatCode>General</c:formatCode>
                <c:ptCount val="3"/>
                <c:pt idx="0">
                  <c:v>1</c:v>
                </c:pt>
                <c:pt idx="1">
                  <c:v>1</c:v>
                </c:pt>
                <c:pt idx="2">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2"/>
        <c:crosses val="autoZero"/>
        <c:auto val="1"/>
        <c:lblAlgn val="ctr"/>
        <c:noMultiLvlLbl val="1"/>
      </c:catAx>
      <c:valAx>
        <c:axId val="2094734552"/>
        <c:scaling>
          <c:orientation val="minMax"/>
          <c:max val="1.25"/>
          <c:min val="0"/>
        </c:scaling>
        <c:delete val="0"/>
        <c:axPos val="l"/>
        <c:majorGridlines>
          <c:spPr>
            <a:ln w="9525" cap="flat">
              <a:solidFill>
                <a:srgbClr val="D9D9D9"/>
              </a:solidFill>
              <a:prstDash val="solid"/>
              <a:round/>
            </a:ln>
          </c:spPr>
        </c:majorGridlines>
        <c:title>
          <c:tx>
            <c:rich>
              <a:bodyPr/>
              <a:lstStyle/>
              <a:p>
                <a:pPr>
                  <a:defRPr sz="1100" b="0" i="0" u="none" strike="noStrike">
                    <a:solidFill>
                      <a:srgbClr val="000000"/>
                    </a:solidFill>
                    <a:latin typeface="Times New Roman"/>
                  </a:defRPr>
                </a:pPr>
                <a:r>
                  <a:rPr sz="1100" b="0" i="0" u="none" strike="noStrike">
                    <a:solidFill>
                      <a:srgbClr val="000000"/>
                    </a:solidFill>
                    <a:latin typeface="Times New Roman"/>
                  </a:rPr>
                  <a:t>Normalized TTFT</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Times New Roman"/>
              </a:defRPr>
            </a:pPr>
            <a:r>
              <a:rPr sz="1300" b="0" i="0" u="none" strike="noStrike">
                <a:solidFill>
                  <a:srgbClr val="1A1A1A"/>
                </a:solidFill>
                <a:latin typeface="Times New Roman"/>
              </a:rPr>
              <a:t>(c)  Prefill work</a:t>
            </a:r>
          </a:p>
        </c:rich>
      </c:tx>
      <c:layout/>
      <c:overlay val="0"/>
    </c:title>
    <c:autoTitleDeleted val="0"/>
    <c:plotArea>
      <c:layout/>
      <c:barChart>
        <c:barDir val="col"/>
        <c:grouping val="clustered"/>
        <c:varyColors val="0"/>
        <c:ser>
          <c:idx val="0"/>
          <c:order val="0"/>
          <c:tx>
            <c:strRef>
              <c:f>Sheet1!$B$1</c:f>
              <c:strCache>
                <c:ptCount val="1"/>
                <c:pt idx="0">
                  <c:v>Recompute</c:v>
                </c:pt>
              </c:strCache>
            </c:strRef>
          </c:tx>
          <c:spPr>
            <a:solidFill>
              <a:srgbClr val="BFC4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Sheet1!$B$2:$B$4</c:f>
              <c:numCache>
                <c:formatCode>General</c:formatCode>
                <c:ptCount val="3"/>
                <c:pt idx="0">
                  <c:v>1</c:v>
                </c:pt>
                <c:pt idx="1">
                  <c:v>1</c:v>
                </c:pt>
                <c:pt idx="2">
                  <c:v>1</c:v>
                </c:pt>
              </c:numCache>
            </c:numRef>
          </c:val>
        </c:ser>
        <c:ser>
          <c:idx val="1"/>
          <c:order val="1"/>
          <c:tx>
            <c:strRef>
              <c:f>Sheet1!$C$1</c:f>
              <c:strCache>
                <c:ptCount val="1"/>
                <c:pt idx="0">
                  <c:v>SGLang</c:v>
                </c:pt>
              </c:strCache>
            </c:strRef>
          </c:tx>
          <c:spPr>
            <a:solidFill>
              <a:srgbClr val="0072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Sheet1!$C$2:$C$4</c:f>
              <c:numCache>
                <c:formatCode>General</c:formatCode>
                <c:ptCount val="3"/>
                <c:pt idx="0">
                  <c:v>0.458</c:v>
                </c:pt>
                <c:pt idx="1">
                  <c:v>0.672</c:v>
                </c:pt>
                <c:pt idx="2">
                  <c:v>0.452</c:v>
                </c:pt>
              </c:numCache>
            </c:numRef>
          </c:val>
        </c:ser>
        <c:ser>
          <c:idx val="2"/>
          <c:order val="2"/>
          <c:tx>
            <c:strRef>
              <c:f>Sheet1!$D$1</c:f>
              <c:strCache>
                <c:ptCount val="1"/>
                <c:pt idx="0">
                  <c:v>Ours</c:v>
                </c:pt>
              </c:strCache>
            </c:strRef>
          </c:tx>
          <c:spPr>
            <a:solidFill>
              <a:srgbClr val="009E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Sheet1!$D$2:$D$4</c:f>
              <c:numCache>
                <c:formatCode>General</c:formatCode>
                <c:ptCount val="3"/>
                <c:pt idx="0">
                  <c:v>0.044</c:v>
                </c:pt>
                <c:pt idx="1">
                  <c:v>0.409</c:v>
                </c:pt>
                <c:pt idx="2">
                  <c:v>0.225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90"/>
        <c:overlap val="0"/>
        <c:axId val="2094734554"/>
        <c:axId val="2094734552"/>
        <c:axId val="2094734556"/>
      </c:barChart>
      <c:lineChart>
        <c:varyColors val="0"/>
        <c:ser>
          <c:idx val="3"/>
          <c:order val="3"/>
          <c:tx>
            <c:strRef>
              <c:f>Sheet1!$E$1</c:f>
              <c:strCache>
                <c:ptCount val="1"/>
                <c:pt idx="0">
                  <c:v>Baseline (Recompute = 1.0)</c:v>
                </c:pt>
              </c:strCache>
            </c:strRef>
          </c:tx>
          <c:spPr>
            <a:solidFill>
              <a:srgbClr val="1A1A1A"/>
            </a:solidFill>
            <a:ln w="19050" cap="flat">
              <a:solidFill>
                <a:srgbClr val="1A1A1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A1A1A"/>
              </a:solidFill>
              <a:ln w="9525" cap="flat">
                <a:solidFill>
                  <a:srgbClr val="1A1A1A"/>
                </a:solidFill>
                <a:prstDash val="solid"/>
                <a:round/>
              </a:ln>
              <a:effectLst/>
            </c:spPr>
          </c:marker>
          <c:cat>
            <c:multiLvlStrRef>
              <c:f>Sheet1!$A$2:$A$4</c:f>
              <c:multiLvlStrCache>
                <c:ptCount val="3"/>
                <c:lvl>
                  <c:pt idx="0">
                    <c:v>Llama-3.1-8B</c:v>
                  </c:pt>
                  <c:pt idx="1">
                    <c:v>Llama-2-13B</c:v>
                  </c:pt>
                  <c:pt idx="2">
                    <c:v>Qwen3-14B</c:v>
                  </c:pt>
                </c:lvl>
              </c:multiLvlStrCache>
            </c:multiLvlStrRef>
          </c:cat>
          <c:val>
            <c:numRef>
              <c:f>Sheet1!$E$2:$E$4</c:f>
              <c:numCache>
                <c:formatCode>General</c:formatCode>
                <c:ptCount val="3"/>
                <c:pt idx="0">
                  <c:v>1</c:v>
                </c:pt>
                <c:pt idx="1">
                  <c:v>1</c:v>
                </c:pt>
                <c:pt idx="2">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2"/>
        <c:crosses val="autoZero"/>
        <c:auto val="1"/>
        <c:lblAlgn val="ctr"/>
        <c:noMultiLvlLbl val="1"/>
      </c:catAx>
      <c:valAx>
        <c:axId val="2094734552"/>
        <c:scaling>
          <c:orientation val="minMax"/>
          <c:max val="1.25"/>
          <c:min val="0"/>
        </c:scaling>
        <c:delete val="0"/>
        <c:axPos val="l"/>
        <c:majorGridlines>
          <c:spPr>
            <a:ln w="9525" cap="flat">
              <a:solidFill>
                <a:srgbClr val="D9D9D9"/>
              </a:solidFill>
              <a:prstDash val="solid"/>
              <a:round/>
            </a:ln>
          </c:spPr>
        </c:majorGridlines>
        <c:title>
          <c:tx>
            <c:rich>
              <a:bodyPr/>
              <a:lstStyle/>
              <a:p>
                <a:pPr>
                  <a:defRPr sz="1100" b="0" i="0" u="none" strike="noStrike">
                    <a:solidFill>
                      <a:srgbClr val="000000"/>
                    </a:solidFill>
                    <a:latin typeface="Times New Roman"/>
                  </a:defRPr>
                </a:pPr>
                <a:r>
                  <a:rPr sz="1100" b="0" i="0" u="none" strike="noStrike">
                    <a:solidFill>
                      <a:srgbClr val="000000"/>
                    </a:solidFill>
                    <a:latin typeface="Times New Roman"/>
                  </a:rPr>
                  <a:t>Normalized Prefill Work</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Times New Roman"/>
              </a:defRPr>
            </a:pPr>
            <a:r>
              <a:rPr sz="1300" b="0" i="0" u="none" strike="noStrike">
                <a:solidFill>
                  <a:srgbClr val="1A1A1A"/>
                </a:solidFill>
                <a:latin typeface="Times New Roman"/>
              </a:rPr>
              <a:t>(d)  Host memory</a:t>
            </a:r>
          </a:p>
        </c:rich>
      </c:tx>
      <c:layout/>
      <c:overlay val="0"/>
    </c:title>
    <c:autoTitleDeleted val="0"/>
    <c:plotArea>
      <c:layout/>
      <c:barChart>
        <c:barDir val="col"/>
        <c:grouping val="clustered"/>
        <c:varyColors val="0"/>
        <c:ser>
          <c:idx val="0"/>
          <c:order val="0"/>
          <c:tx>
            <c:strRef>
              <c:f>Sheet1!$B$1</c:f>
              <c:strCache>
                <c:ptCount val="1"/>
                <c:pt idx="0">
                  <c:v>Recompute</c:v>
                </c:pt>
              </c:strCache>
            </c:strRef>
          </c:tx>
          <c:spPr>
            <a:solidFill>
              <a:srgbClr val="BFC4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Sheet1!$B$2:$B$4</c:f>
              <c:numCache>
                <c:formatCode>General</c:formatCode>
                <c:ptCount val="3"/>
                <c:pt idx="0">
                  <c:v>16.56</c:v>
                </c:pt>
                <c:pt idx="1">
                  <c:v>14.81</c:v>
                </c:pt>
                <c:pt idx="2">
                  <c:v>16.53</c:v>
                </c:pt>
              </c:numCache>
            </c:numRef>
          </c:val>
        </c:ser>
        <c:ser>
          <c:idx val="1"/>
          <c:order val="1"/>
          <c:tx>
            <c:strRef>
              <c:f>Sheet1!$C$1</c:f>
              <c:strCache>
                <c:ptCount val="1"/>
                <c:pt idx="0">
                  <c:v>SGLang</c:v>
                </c:pt>
              </c:strCache>
            </c:strRef>
          </c:tx>
          <c:spPr>
            <a:solidFill>
              <a:srgbClr val="0072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Sheet1!$C$2:$C$4</c:f>
              <c:numCache>
                <c:formatCode>General</c:formatCode>
                <c:ptCount val="3"/>
                <c:pt idx="0">
                  <c:v>34.18</c:v>
                </c:pt>
                <c:pt idx="1">
                  <c:v>29.79</c:v>
                </c:pt>
                <c:pt idx="2">
                  <c:v>23.36</c:v>
                </c:pt>
              </c:numCache>
            </c:numRef>
          </c:val>
        </c:ser>
        <c:ser>
          <c:idx val="2"/>
          <c:order val="2"/>
          <c:tx>
            <c:strRef>
              <c:f>Sheet1!$D$1</c:f>
              <c:strCache>
                <c:ptCount val="1"/>
                <c:pt idx="0">
                  <c:v>Ours</c:v>
                </c:pt>
              </c:strCache>
            </c:strRef>
          </c:tx>
          <c:spPr>
            <a:solidFill>
              <a:srgbClr val="009E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Sheet1!$D$2:$D$4</c:f>
              <c:numCache>
                <c:formatCode>General</c:formatCode>
                <c:ptCount val="3"/>
                <c:pt idx="0">
                  <c:v>16.64</c:v>
                </c:pt>
                <c:pt idx="1">
                  <c:v>15.17</c:v>
                </c:pt>
                <c:pt idx="2">
                  <c:v>16.16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9D9D9"/>
              </a:solidFill>
              <a:prstDash val="solid"/>
              <a:round/>
            </a:ln>
          </c:spPr>
        </c:majorGridlines>
        <c:title>
          <c:tx>
            <c:rich>
              <a:bodyPr/>
              <a:lstStyle/>
              <a:p>
                <a:pPr>
                  <a:defRPr sz="1100" b="0" i="0" u="none" strike="noStrike">
                    <a:solidFill>
                      <a:srgbClr val="000000"/>
                    </a:solidFill>
                    <a:latin typeface="Times New Roman"/>
                  </a:defRPr>
                </a:pPr>
                <a:r>
                  <a:rPr sz="1100" b="0" i="0" u="none" strike="noStrike">
                    <a:solidFill>
                      <a:srgbClr val="000000"/>
                    </a:solidFill>
                    <a:latin typeface="Times New Roman"/>
                  </a:rPr>
                  <a:t>Host DRAM (GB)</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are native PowerPoint charts: right-click &gt; Edit Data to change values, or the Chart Design / Format tabs for colours and axes.
TTFT and prefill work are normalised to Recompute within each model, because their absolute values are set mostly by model size and would invite comparison across models. In both, lower is better and the dashed line is Recompute.
Panel (c) plots prefill work rather than cache-served throughput because Recompute serves 0 tokens from cache by construction (it has no cache), which cannot be a normalisation denominator. Its hit rate is 0 for the same reason -- not missing data.
Source: results/models/{llama8b,llama13b,qwen14b}/table.json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11480" y="201168"/>
            <a:ext cx="11338560" cy="411480"/>
          </a:xfrm>
          <a:prstGeom prst="rect">
            <a:avLst/>
          </a:prstGeom>
          <a:noFill/>
          <a:ln/>
        </p:spPr>
        <p:txBody>
          <a:bodyPr wrap="square" lIns="0" tIns="0" rIns="0" bIns="0" rtlCol="0" anchor="ctr"/>
          <a:lstStyle/>
          <a:p>
            <a:pPr indent="0" marL="0">
              <a:buNone/>
            </a:pPr>
            <a:r>
              <a:rPr lang="en-US" sz="2400" b="1" dirty="0">
                <a:solidFill>
                  <a:srgbClr val="1A1A1A"/>
                </a:solidFill>
                <a:latin typeface="Times New Roman" pitchFamily="34" charset="0"/>
                <a:ea typeface="Times New Roman" pitchFamily="34" charset="-122"/>
                <a:cs typeface="Times New Roman" pitchFamily="34" charset="-120"/>
              </a:rPr>
              <a:t>GPU-first KV placement holds across model families</a:t>
            </a:r>
            <a:endParaRPr lang="en-US" sz="2400" dirty="0"/>
          </a:p>
        </p:txBody>
      </p:sp>
      <p:sp>
        <p:nvSpPr>
          <p:cNvPr id="3" name="Text 1"/>
          <p:cNvSpPr/>
          <p:nvPr/>
        </p:nvSpPr>
        <p:spPr>
          <a:xfrm>
            <a:off x="411480" y="621792"/>
            <a:ext cx="11338560" cy="274320"/>
          </a:xfrm>
          <a:prstGeom prst="rect">
            <a:avLst/>
          </a:prstGeom>
          <a:noFill/>
          <a:ln/>
        </p:spPr>
        <p:txBody>
          <a:bodyPr wrap="square" lIns="0" tIns="0" rIns="0" bIns="0" rtlCol="0" anchor="ctr"/>
          <a:lstStyle/>
          <a:p>
            <a:pPr indent="0" marL="0">
              <a:buNone/>
            </a:pPr>
            <a:r>
              <a:rPr lang="en-US" sz="1100" i="1" dirty="0">
                <a:solidFill>
                  <a:srgbClr val="595959"/>
                </a:solidFill>
                <a:latin typeface="Times New Roman" pitchFamily="34" charset="0"/>
                <a:ea typeface="Times New Roman" pitchFamily="34" charset="-122"/>
                <a:cs typeface="Times New Roman" pitchFamily="34" charset="-120"/>
              </a:rPr>
              <a:t>ShareGPT multi-turn · SGLang 2P2D · 4× RTX A6000 · labels are Ours vs. the stronger baseline (host DRAM vs. SGLang, which is the only baseline with a host tier)</a:t>
            </a:r>
            <a:endParaRPr lang="en-US" sz="1100" dirty="0"/>
          </a:p>
        </p:txBody>
      </p:sp>
      <p:graphicFrame>
        <p:nvGraphicFramePr>
          <p:cNvPr id="4" name="Chart 0" descr=""/>
          <p:cNvGraphicFramePr/>
          <p:nvPr/>
        </p:nvGraphicFramePr>
        <p:xfrm>
          <a:off x="411480" y="1051560"/>
          <a:ext cx="2761488"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67512"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1.72×</a:t>
            </a:r>
            <a:endParaRPr lang="en-US" sz="1200" dirty="0"/>
          </a:p>
        </p:txBody>
      </p:sp>
      <p:sp>
        <p:nvSpPr>
          <p:cNvPr id="6" name="Text 3"/>
          <p:cNvSpPr/>
          <p:nvPr/>
        </p:nvSpPr>
        <p:spPr>
          <a:xfrm>
            <a:off x="1514368"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1.66×</a:t>
            </a:r>
            <a:endParaRPr lang="en-US" sz="1200" dirty="0"/>
          </a:p>
        </p:txBody>
      </p:sp>
      <p:sp>
        <p:nvSpPr>
          <p:cNvPr id="7" name="Text 4"/>
          <p:cNvSpPr/>
          <p:nvPr/>
        </p:nvSpPr>
        <p:spPr>
          <a:xfrm>
            <a:off x="2361225"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1.38×</a:t>
            </a:r>
            <a:endParaRPr lang="en-US" sz="1200" dirty="0"/>
          </a:p>
        </p:txBody>
      </p:sp>
      <p:graphicFrame>
        <p:nvGraphicFramePr>
          <p:cNvPr id="8" name="Chart 1" descr=""/>
          <p:cNvGraphicFramePr/>
          <p:nvPr/>
        </p:nvGraphicFramePr>
        <p:xfrm>
          <a:off x="3291840" y="1051560"/>
          <a:ext cx="2761488" cy="393192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3547872"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1.31×</a:t>
            </a:r>
            <a:endParaRPr lang="en-US" sz="1200" dirty="0"/>
          </a:p>
        </p:txBody>
      </p:sp>
      <p:sp>
        <p:nvSpPr>
          <p:cNvPr id="10" name="Text 6"/>
          <p:cNvSpPr/>
          <p:nvPr/>
        </p:nvSpPr>
        <p:spPr>
          <a:xfrm>
            <a:off x="4394728"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0.95×</a:t>
            </a:r>
            <a:endParaRPr lang="en-US" sz="1200" dirty="0"/>
          </a:p>
        </p:txBody>
      </p:sp>
      <p:sp>
        <p:nvSpPr>
          <p:cNvPr id="11" name="Text 7"/>
          <p:cNvSpPr/>
          <p:nvPr/>
        </p:nvSpPr>
        <p:spPr>
          <a:xfrm>
            <a:off x="5241585"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1.18×</a:t>
            </a:r>
            <a:endParaRPr lang="en-US" sz="1200" dirty="0"/>
          </a:p>
        </p:txBody>
      </p:sp>
      <p:graphicFrame>
        <p:nvGraphicFramePr>
          <p:cNvPr id="12" name="Chart 2" descr=""/>
          <p:cNvGraphicFramePr/>
          <p:nvPr/>
        </p:nvGraphicFramePr>
        <p:xfrm>
          <a:off x="6172200" y="1051560"/>
          <a:ext cx="2761488" cy="3931920"/>
        </p:xfrm>
        <a:graphic xmlns:a="http://schemas.openxmlformats.org/drawingml/2006/main">
          <a:graphicData uri="http://schemas.openxmlformats.org/drawingml/2006/chart">
            <c:chart xmlns:c="http://schemas.openxmlformats.org/drawingml/2006/chart" r:id="rId3"/>
          </a:graphicData>
        </a:graphic>
      </p:graphicFrame>
      <p:sp>
        <p:nvSpPr>
          <p:cNvPr id="13" name="Text 8"/>
          <p:cNvSpPr/>
          <p:nvPr/>
        </p:nvSpPr>
        <p:spPr>
          <a:xfrm>
            <a:off x="6428232"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10.32×</a:t>
            </a:r>
            <a:endParaRPr lang="en-US" sz="1200" dirty="0"/>
          </a:p>
        </p:txBody>
      </p:sp>
      <p:sp>
        <p:nvSpPr>
          <p:cNvPr id="14" name="Text 9"/>
          <p:cNvSpPr/>
          <p:nvPr/>
        </p:nvSpPr>
        <p:spPr>
          <a:xfrm>
            <a:off x="7275088"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1.64×</a:t>
            </a:r>
            <a:endParaRPr lang="en-US" sz="1200" dirty="0"/>
          </a:p>
        </p:txBody>
      </p:sp>
      <p:sp>
        <p:nvSpPr>
          <p:cNvPr id="15" name="Text 10"/>
          <p:cNvSpPr/>
          <p:nvPr/>
        </p:nvSpPr>
        <p:spPr>
          <a:xfrm>
            <a:off x="8121945"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2.01×</a:t>
            </a:r>
            <a:endParaRPr lang="en-US" sz="1200" dirty="0"/>
          </a:p>
        </p:txBody>
      </p:sp>
      <p:graphicFrame>
        <p:nvGraphicFramePr>
          <p:cNvPr id="16" name="Chart 3" descr=""/>
          <p:cNvGraphicFramePr/>
          <p:nvPr/>
        </p:nvGraphicFramePr>
        <p:xfrm>
          <a:off x="9052560" y="1051560"/>
          <a:ext cx="2761488" cy="3931920"/>
        </p:xfrm>
        <a:graphic xmlns:a="http://schemas.openxmlformats.org/drawingml/2006/main">
          <a:graphicData uri="http://schemas.openxmlformats.org/drawingml/2006/chart">
            <c:chart xmlns:c="http://schemas.openxmlformats.org/drawingml/2006/chart" r:id="rId4"/>
          </a:graphicData>
        </a:graphic>
      </p:graphicFrame>
      <p:sp>
        <p:nvSpPr>
          <p:cNvPr id="17" name="Text 11"/>
          <p:cNvSpPr/>
          <p:nvPr/>
        </p:nvSpPr>
        <p:spPr>
          <a:xfrm>
            <a:off x="9308592"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2.05×</a:t>
            </a:r>
            <a:endParaRPr lang="en-US" sz="1200" dirty="0"/>
          </a:p>
        </p:txBody>
      </p:sp>
      <p:sp>
        <p:nvSpPr>
          <p:cNvPr id="18" name="Text 12"/>
          <p:cNvSpPr/>
          <p:nvPr/>
        </p:nvSpPr>
        <p:spPr>
          <a:xfrm>
            <a:off x="10155448"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1.96×</a:t>
            </a:r>
            <a:endParaRPr lang="en-US" sz="1200" dirty="0"/>
          </a:p>
        </p:txBody>
      </p:sp>
      <p:sp>
        <p:nvSpPr>
          <p:cNvPr id="19" name="Text 13"/>
          <p:cNvSpPr/>
          <p:nvPr/>
        </p:nvSpPr>
        <p:spPr>
          <a:xfrm>
            <a:off x="11002305"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1.45×</a:t>
            </a:r>
            <a:endParaRPr lang="en-US" sz="1200" dirty="0"/>
          </a:p>
        </p:txBody>
      </p:sp>
      <p:sp>
        <p:nvSpPr>
          <p:cNvPr id="20" name="Shape 14"/>
          <p:cNvSpPr/>
          <p:nvPr/>
        </p:nvSpPr>
        <p:spPr>
          <a:xfrm>
            <a:off x="4206240" y="5230368"/>
            <a:ext cx="274320" cy="146304"/>
          </a:xfrm>
          <a:prstGeom prst="rect">
            <a:avLst/>
          </a:prstGeom>
          <a:solidFill>
            <a:srgbClr val="BFC4C9"/>
          </a:solidFill>
          <a:ln w="9525">
            <a:solidFill>
              <a:srgbClr val="1A1A1A"/>
            </a:solidFill>
            <a:prstDash val="solid"/>
          </a:ln>
        </p:spPr>
      </p:sp>
      <p:sp>
        <p:nvSpPr>
          <p:cNvPr id="21" name="Text 15"/>
          <p:cNvSpPr/>
          <p:nvPr/>
        </p:nvSpPr>
        <p:spPr>
          <a:xfrm>
            <a:off x="4553712" y="5120640"/>
            <a:ext cx="1188720" cy="365760"/>
          </a:xfrm>
          <a:prstGeom prst="rect">
            <a:avLst/>
          </a:prstGeom>
          <a:noFill/>
          <a:ln/>
        </p:spPr>
        <p:txBody>
          <a:bodyPr wrap="square" lIns="0" tIns="0" rIns="0" bIns="0" rtlCol="0" anchor="ct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Recompute</a:t>
            </a:r>
            <a:endParaRPr lang="en-US" sz="1200" dirty="0"/>
          </a:p>
        </p:txBody>
      </p:sp>
      <p:sp>
        <p:nvSpPr>
          <p:cNvPr id="22" name="Shape 16"/>
          <p:cNvSpPr/>
          <p:nvPr/>
        </p:nvSpPr>
        <p:spPr>
          <a:xfrm>
            <a:off x="5623560" y="5230368"/>
            <a:ext cx="274320" cy="146304"/>
          </a:xfrm>
          <a:prstGeom prst="rect">
            <a:avLst/>
          </a:prstGeom>
          <a:solidFill>
            <a:srgbClr val="0072B2"/>
          </a:solidFill>
          <a:ln w="9525">
            <a:solidFill>
              <a:srgbClr val="1A1A1A"/>
            </a:solidFill>
            <a:prstDash val="solid"/>
          </a:ln>
        </p:spPr>
      </p:sp>
      <p:sp>
        <p:nvSpPr>
          <p:cNvPr id="23" name="Text 17"/>
          <p:cNvSpPr/>
          <p:nvPr/>
        </p:nvSpPr>
        <p:spPr>
          <a:xfrm>
            <a:off x="5971032" y="5120640"/>
            <a:ext cx="1188720" cy="365760"/>
          </a:xfrm>
          <a:prstGeom prst="rect">
            <a:avLst/>
          </a:prstGeom>
          <a:noFill/>
          <a:ln/>
        </p:spPr>
        <p:txBody>
          <a:bodyPr wrap="square" lIns="0" tIns="0" rIns="0" bIns="0" rtlCol="0" anchor="ct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SGLang</a:t>
            </a:r>
            <a:endParaRPr lang="en-US" sz="1200" dirty="0"/>
          </a:p>
        </p:txBody>
      </p:sp>
      <p:sp>
        <p:nvSpPr>
          <p:cNvPr id="24" name="Shape 18"/>
          <p:cNvSpPr/>
          <p:nvPr/>
        </p:nvSpPr>
        <p:spPr>
          <a:xfrm>
            <a:off x="7040880" y="5230368"/>
            <a:ext cx="274320" cy="146304"/>
          </a:xfrm>
          <a:prstGeom prst="rect">
            <a:avLst/>
          </a:prstGeom>
          <a:solidFill>
            <a:srgbClr val="009E73"/>
          </a:solidFill>
          <a:ln w="9525">
            <a:solidFill>
              <a:srgbClr val="1A1A1A"/>
            </a:solidFill>
            <a:prstDash val="solid"/>
          </a:ln>
        </p:spPr>
      </p:sp>
      <p:sp>
        <p:nvSpPr>
          <p:cNvPr id="25" name="Text 19"/>
          <p:cNvSpPr/>
          <p:nvPr/>
        </p:nvSpPr>
        <p:spPr>
          <a:xfrm>
            <a:off x="7388352" y="5120640"/>
            <a:ext cx="1188720" cy="365760"/>
          </a:xfrm>
          <a:prstGeom prst="rect">
            <a:avLst/>
          </a:prstGeom>
          <a:noFill/>
          <a:ln/>
        </p:spPr>
        <p:txBody>
          <a:bodyPr wrap="square" lIns="0" tIns="0" rIns="0" bIns="0" rtlCol="0" anchor="ct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Ours</a:t>
            </a:r>
            <a:endParaRPr lang="en-US" sz="1200" dirty="0"/>
          </a:p>
        </p:txBody>
      </p:sp>
      <p:sp>
        <p:nvSpPr>
          <p:cNvPr id="26" name="Text 20"/>
          <p:cNvSpPr/>
          <p:nvPr/>
        </p:nvSpPr>
        <p:spPr>
          <a:xfrm>
            <a:off x="411480" y="5715000"/>
            <a:ext cx="11338560" cy="731520"/>
          </a:xfrm>
          <a:prstGeom prst="rect">
            <a:avLst/>
          </a:prstGeom>
          <a:noFill/>
          <a:ln/>
        </p:spPr>
        <p:txBody>
          <a:bodyPr wrap="square" lIns="0" tIns="0" rIns="0" bIns="0" rtlCol="0" anchor="ctr"/>
          <a:lstStyle/>
          <a:p>
            <a:pPr indent="0" marL="0">
              <a:buNone/>
            </a:pPr>
            <a:r>
              <a:rPr lang="en-US" sz="1100" dirty="0">
                <a:solidFill>
                  <a:srgbClr val="595959"/>
                </a:solidFill>
                <a:latin typeface="Times New Roman" pitchFamily="34" charset="0"/>
                <a:ea typeface="Times New Roman" pitchFamily="34" charset="-122"/>
                <a:cs typeface="Times New Roman" pitchFamily="34" charset="-120"/>
              </a:rPr>
              <a:t>Hit rate, prefill work and host DRAM improve on all three models. Normalized TTFT is the exception on Llama-2-13B (0.95×): its 4096-position limit caps conversations at four turns, so the re-prefill a hit avoids is small enough that the fetch does not pay for itself — the mechanism still works there (1.66× hit rate), it just has less to win.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GPU-first unified KV placement across models</dc:title>
  <dc:subject>PptxGenJS Presentation</dc:subject>
  <dc:creator>SGLang KV placement experiment</dc:creator>
  <cp:lastModifiedBy>SGLang KV placement experiment</cp:lastModifiedBy>
  <cp:revision>1</cp:revision>
  <dcterms:created xsi:type="dcterms:W3CDTF">2026-08-02T02:22:28Z</dcterms:created>
  <dcterms:modified xsi:type="dcterms:W3CDTF">2026-08-02T02:22:28Z</dcterms:modified>
</cp:coreProperties>
</file>