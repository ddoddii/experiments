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Prefill HBM</c:v>
                </c:pt>
              </c:strCache>
            </c:strRef>
          </c:tx>
          <c:spPr>
            <a:solidFill>
              <a:srgbClr val="BFC4C9"/>
            </a:solidFill>
            <a:ln w="6350" cap="flat">
              <a:solidFill>
                <a:srgbClr val="1A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SGLang
Llama-3.1-8B</c:v>
                  </c:pt>
                  <c:pt idx="1">
                    <c:v>Ours
Llama-3.1-8B</c:v>
                  </c:pt>
                  <c:pt idx="2">
                    <c:v>SGLang
Llama-2-13B</c:v>
                  </c:pt>
                  <c:pt idx="3">
                    <c:v>Ours
Llama-2-13B</c:v>
                  </c:pt>
                  <c:pt idx="4">
                    <c:v>SGLang
Qwen3-14B</c:v>
                  </c:pt>
                  <c:pt idx="5">
                    <c:v>Ours
Qwen3-14B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50.8</c:v>
                </c:pt>
                <c:pt idx="1">
                  <c:v>58.38</c:v>
                </c:pt>
                <c:pt idx="2">
                  <c:v>63.99</c:v>
                </c:pt>
                <c:pt idx="3">
                  <c:v>80.39</c:v>
                </c:pt>
                <c:pt idx="4">
                  <c:v>67.1</c:v>
                </c:pt>
                <c:pt idx="5">
                  <c:v>79.76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Decode HBM</c:v>
                </c:pt>
              </c:strCache>
            </c:strRef>
          </c:tx>
          <c:spPr>
            <a:solidFill>
              <a:srgbClr val="009E73"/>
            </a:solidFill>
            <a:ln w="6350" cap="flat">
              <a:solidFill>
                <a:srgbClr val="1A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SGLang
Llama-3.1-8B</c:v>
                  </c:pt>
                  <c:pt idx="1">
                    <c:v>Ours
Llama-3.1-8B</c:v>
                  </c:pt>
                  <c:pt idx="2">
                    <c:v>SGLang
Llama-2-13B</c:v>
                  </c:pt>
                  <c:pt idx="3">
                    <c:v>Ours
Llama-2-13B</c:v>
                  </c:pt>
                  <c:pt idx="4">
                    <c:v>SGLang
Qwen3-14B</c:v>
                  </c:pt>
                  <c:pt idx="5">
                    <c:v>Ours
Qwen3-14B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85.25</c:v>
                </c:pt>
                <c:pt idx="1">
                  <c:v>86.58</c:v>
                </c:pt>
                <c:pt idx="2">
                  <c:v>83.03</c:v>
                </c:pt>
                <c:pt idx="3">
                  <c:v>84.63</c:v>
                </c:pt>
                <c:pt idx="4">
                  <c:v>84.12</c:v>
                </c:pt>
                <c:pt idx="5">
                  <c:v>85.45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CPU DRAM</c:v>
                </c:pt>
              </c:strCache>
            </c:strRef>
          </c:tx>
          <c:spPr>
            <a:solidFill>
              <a:srgbClr val="FFFFFF"/>
            </a:solidFill>
            <a:ln w="6350" cap="flat">
              <a:solidFill>
                <a:srgbClr val="1A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SGLang
Llama-3.1-8B</c:v>
                  </c:pt>
                  <c:pt idx="1">
                    <c:v>Ours
Llama-3.1-8B</c:v>
                  </c:pt>
                  <c:pt idx="2">
                    <c:v>SGLang
Llama-2-13B</c:v>
                  </c:pt>
                  <c:pt idx="3">
                    <c:v>Ours
Llama-2-13B</c:v>
                  </c:pt>
                  <c:pt idx="4">
                    <c:v>SGLang
Qwen3-14B</c:v>
                  </c:pt>
                  <c:pt idx="5">
                    <c:v>Ours
Qwen3-14B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32.01</c:v>
                </c:pt>
                <c:pt idx="1">
                  <c:v>15.6</c:v>
                </c:pt>
                <c:pt idx="2">
                  <c:v>28.2</c:v>
                </c:pt>
                <c:pt idx="3">
                  <c:v>14.32</c:v>
                </c:pt>
                <c:pt idx="4">
                  <c:v>22.11</c:v>
                </c:pt>
                <c:pt idx="5">
                  <c:v>15.83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Times New Roman"/>
                  </a:rPr>
                  <a:t>Peak memory usage (GB)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GPU-first placement trades host memory for GPU memory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2179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Returning hicache's host tier saves 6.3–16.4 GB of DRAM, paid for in prefill HBM (+8.9 to +18.0 GB). Total provisioned memory is lower only on Llama-3.1-8B: the trade is favourable only while HBM headroom is large.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234440"/>
          <a:ext cx="7863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68172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2P2D · prefill HBM = GPU0+1, decode HBM = GPU2+3, CPU DRAM = proc_pss_mb (PSS: shared pages charged once) · hicache also writes 78/183/93 GB to its L3 tier on disk, which Ours does not and which is not in these bars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2026-08-04T12:36:04Z</dcterms:created>
  <dcterms:modified xsi:type="dcterms:W3CDTF">2026-08-04T12:36:04Z</dcterms:modified>
</cp:coreProperties>
</file>