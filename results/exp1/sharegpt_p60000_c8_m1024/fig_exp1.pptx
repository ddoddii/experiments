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Times New Roman"/>
              </a:defRPr>
            </a:pPr>
            <a:r>
              <a:rPr sz="1400" b="0" i="0" u="none" strike="noStrike">
                <a:solidFill>
                  <a:srgbClr val="1A1A1A"/>
                </a:solidFill>
                <a:latin typeface="Times New Roman"/>
              </a:rPr>
              <a:t>(a)  Median TTFT by turn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GPU-only (radix)</c:v>
                </c:pt>
              </c:strCache>
            </c:strRef>
          </c:tx>
          <c:spPr>
            <a:solidFill>
              <a:srgbClr val="E69F00"/>
            </a:solidFill>
            <a:ln w="31750" cap="flat">
              <a:solidFill>
                <a:srgbClr val="E69F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69F00"/>
              </a:solidFill>
              <a:ln w="9525" cap="flat">
                <a:solidFill>
                  <a:srgbClr val="E69F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0.1003</c:v>
                </c:pt>
                <c:pt idx="1">
                  <c:v>0.1827</c:v>
                </c:pt>
                <c:pt idx="2">
                  <c:v>0.2679</c:v>
                </c:pt>
                <c:pt idx="3">
                  <c:v>0.3241</c:v>
                </c:pt>
                <c:pt idx="4">
                  <c:v>0.392</c:v>
                </c:pt>
                <c:pt idx="5">
                  <c:v>0.4451</c:v>
                </c:pt>
                <c:pt idx="6">
                  <c:v>0.4755</c:v>
                </c:pt>
                <c:pt idx="7">
                  <c:v>0.4468</c:v>
                </c:pt>
                <c:pt idx="8">
                  <c:v>0.4122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HiCache (host DRAM)</c:v>
                </c:pt>
              </c:strCache>
            </c:strRef>
          </c:tx>
          <c:spPr>
            <a:solidFill>
              <a:srgbClr val="0072B2"/>
            </a:solidFill>
            <a:ln w="31750" cap="flat">
              <a:solidFill>
                <a:srgbClr val="0072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72B2"/>
              </a:solidFill>
              <a:ln w="9525" cap="flat">
                <a:solidFill>
                  <a:srgbClr val="0072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0.1006</c:v>
                </c:pt>
                <c:pt idx="1">
                  <c:v>0.1911</c:v>
                </c:pt>
                <c:pt idx="2">
                  <c:v>0.2727</c:v>
                </c:pt>
                <c:pt idx="3">
                  <c:v>0.3168</c:v>
                </c:pt>
                <c:pt idx="4">
                  <c:v>0.396</c:v>
                </c:pt>
                <c:pt idx="5">
                  <c:v>0.4614</c:v>
                </c:pt>
                <c:pt idx="6">
                  <c:v>0.4862</c:v>
                </c:pt>
                <c:pt idx="7">
                  <c:v>0.4635</c:v>
                </c:pt>
                <c:pt idx="8">
                  <c:v>0.4392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GPU-first (ours)</c:v>
                </c:pt>
              </c:strCache>
            </c:strRef>
          </c:tx>
          <c:spPr>
            <a:solidFill>
              <a:srgbClr val="009E73"/>
            </a:solidFill>
            <a:ln w="31750" cap="flat">
              <a:solidFill>
                <a:srgbClr val="009E7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9E73"/>
              </a:solidFill>
              <a:ln w="9525" cap="flat">
                <a:solidFill>
                  <a:srgbClr val="009E7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0.2089</c:v>
                </c:pt>
                <c:pt idx="1">
                  <c:v>0.1399</c:v>
                </c:pt>
                <c:pt idx="2">
                  <c:v>0.1937</c:v>
                </c:pt>
                <c:pt idx="3">
                  <c:v>0.2422</c:v>
                </c:pt>
                <c:pt idx="4">
                  <c:v>0.3116</c:v>
                </c:pt>
                <c:pt idx="5">
                  <c:v>0.3718</c:v>
                </c:pt>
                <c:pt idx="6">
                  <c:v>0.4021</c:v>
                </c:pt>
                <c:pt idx="7">
                  <c:v>0.3831</c:v>
                </c:pt>
                <c:pt idx="8">
                  <c:v>0.3461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Times New Roman"/>
                  </a:rPr>
                  <a:t>turn index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5"/>
          <c:min val="0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Times New Roman"/>
                  </a:rPr>
                  <a:t>median TTFT (s)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Times New Roman"/>
              </a:defRPr>
            </a:pPr>
            <a:r>
              <a:rPr sz="1400" b="0" i="0" u="none" strike="noStrike">
                <a:solidFill>
                  <a:srgbClr val="1A1A1A"/>
                </a:solidFill>
                <a:latin typeface="Times New Roman"/>
              </a:rPr>
              <a:t>(b)  Host DRAM (AnonPages) over the run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GPU-only (radix)</c:v>
                </c:pt>
              </c:strCache>
            </c:strRef>
          </c:tx>
          <c:spPr>
            <a:solidFill>
              <a:srgbClr val="E69F00"/>
            </a:solidFill>
            <a:ln w="31750" cap="flat">
              <a:solidFill>
                <a:srgbClr val="E69F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69F00"/>
              </a:solidFill>
              <a:ln w="9525" cap="flat">
                <a:solidFill>
                  <a:srgbClr val="E69F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Sheet1!$A$2:$A$47</c:f>
              <c:multiLvlStrCache>
                <c:ptCount val="4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  <c:pt idx="41">
                    <c:v>41</c:v>
                  </c:pt>
                  <c:pt idx="42">
                    <c:v>42</c:v>
                  </c:pt>
                  <c:pt idx="43">
                    <c:v>43</c:v>
                  </c:pt>
                  <c:pt idx="44">
                    <c:v>44</c:v>
                  </c:pt>
                  <c:pt idx="45">
                    <c:v>45</c:v>
                  </c:pt>
                </c:lvl>
              </c:multiLvlStrCache>
            </c:multiLvlStrRef>
          </c:cat>
          <c:val>
            <c:numRef>
              <c:f>Sheet1!$B$2:$B$47</c:f>
              <c:numCache>
                <c:formatCode>General</c:formatCode>
                <c:ptCount val="46"/>
                <c:pt idx="0">
                  <c:v>16.756</c:v>
                </c:pt>
                <c:pt idx="1">
                  <c:v>16.792</c:v>
                </c:pt>
                <c:pt idx="2">
                  <c:v>16.809</c:v>
                </c:pt>
                <c:pt idx="3">
                  <c:v>16.816</c:v>
                </c:pt>
                <c:pt idx="4">
                  <c:v>16.827</c:v>
                </c:pt>
                <c:pt idx="5">
                  <c:v>16.911</c:v>
                </c:pt>
                <c:pt idx="6">
                  <c:v>16.973</c:v>
                </c:pt>
                <c:pt idx="7">
                  <c:v>16.987</c:v>
                </c:pt>
                <c:pt idx="8">
                  <c:v>16.991</c:v>
                </c:pt>
                <c:pt idx="9">
                  <c:v>16.991</c:v>
                </c:pt>
                <c:pt idx="10">
                  <c:v>17.017</c:v>
                </c:pt>
                <c:pt idx="11">
                  <c:v>17.034</c:v>
                </c:pt>
                <c:pt idx="12">
                  <c:v>17.107</c:v>
                </c:pt>
                <c:pt idx="13">
                  <c:v>17.118</c:v>
                </c:pt>
                <c:pt idx="14">
                  <c:v>17.129</c:v>
                </c:pt>
                <c:pt idx="15">
                  <c:v>17.13</c:v>
                </c:pt>
                <c:pt idx="16">
                  <c:v>17.133</c:v>
                </c:pt>
                <c:pt idx="17">
                  <c:v>17.152</c:v>
                </c:pt>
                <c:pt idx="18">
                  <c:v>17.152</c:v>
                </c:pt>
                <c:pt idx="19">
                  <c:v>17.154</c:v>
                </c:pt>
                <c:pt idx="20">
                  <c:v>17.177</c:v>
                </c:pt>
                <c:pt idx="21">
                  <c:v>17.185</c:v>
                </c:pt>
                <c:pt idx="22">
                  <c:v>17.187</c:v>
                </c:pt>
                <c:pt idx="23">
                  <c:v>17.191</c:v>
                </c:pt>
                <c:pt idx="24">
                  <c:v>17.205</c:v>
                </c:pt>
                <c:pt idx="25">
                  <c:v>17.206</c:v>
                </c:pt>
                <c:pt idx="26">
                  <c:v>17.207</c:v>
                </c:pt>
                <c:pt idx="27">
                  <c:v>17.207</c:v>
                </c:pt>
                <c:pt idx="28">
                  <c:v>17.208</c:v>
                </c:pt>
                <c:pt idx="29">
                  <c:v>17.233</c:v>
                </c:pt>
                <c:pt idx="30">
                  <c:v>17.263</c:v>
                </c:pt>
                <c:pt idx="31">
                  <c:v>17.265</c:v>
                </c:pt>
                <c:pt idx="32">
                  <c:v>17.265</c:v>
                </c:pt>
                <c:pt idx="33">
                  <c:v>17.313</c:v>
                </c:pt>
                <c:pt idx="34">
                  <c:v>17.319</c:v>
                </c:pt>
                <c:pt idx="35">
                  <c:v>17.319</c:v>
                </c:pt>
                <c:pt idx="36">
                  <c:v>17.342</c:v>
                </c:pt>
                <c:pt idx="37">
                  <c:v>17.356</c:v>
                </c:pt>
                <c:pt idx="38">
                  <c:v>17.357</c:v>
                </c:pt>
                <c:pt idx="39">
                  <c:v>17.356</c:v>
                </c:pt>
                <c:pt idx="40">
                  <c:v>17.356</c:v>
                </c:pt>
                <c:pt idx="41">
                  <c:v>17.354</c:v>
                </c:pt>
                <c:pt idx="42">
                  <c:v>17.355</c:v>
                </c:pt>
                <c:pt idx="43">
                  <c:v>17.347</c:v>
                </c:pt>
                <c:pt idx="44">
                  <c:v>17.337</c:v>
                </c:pt>
                <c:pt idx="45">
                  <c:v>17.312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HiCache (host DRAM)</c:v>
                </c:pt>
              </c:strCache>
            </c:strRef>
          </c:tx>
          <c:spPr>
            <a:solidFill>
              <a:srgbClr val="0072B2"/>
            </a:solidFill>
            <a:ln w="31750" cap="flat">
              <a:solidFill>
                <a:srgbClr val="0072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72B2"/>
              </a:solidFill>
              <a:ln w="9525" cap="flat">
                <a:solidFill>
                  <a:srgbClr val="0072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Sheet1!$A$2:$A$47</c:f>
              <c:multiLvlStrCache>
                <c:ptCount val="4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  <c:pt idx="41">
                    <c:v>41</c:v>
                  </c:pt>
                  <c:pt idx="42">
                    <c:v>42</c:v>
                  </c:pt>
                  <c:pt idx="43">
                    <c:v>43</c:v>
                  </c:pt>
                  <c:pt idx="44">
                    <c:v>44</c:v>
                  </c:pt>
                  <c:pt idx="45">
                    <c:v>45</c:v>
                  </c:pt>
                </c:lvl>
              </c:multiLvlStrCache>
            </c:multiLvlStrRef>
          </c:cat>
          <c:val>
            <c:numRef>
              <c:f>Sheet1!$C$2:$C$47</c:f>
              <c:numCache>
                <c:formatCode>General</c:formatCode>
                <c:ptCount val="46"/>
                <c:pt idx="0">
                  <c:v>34.417</c:v>
                </c:pt>
                <c:pt idx="1">
                  <c:v>34.478</c:v>
                </c:pt>
                <c:pt idx="2">
                  <c:v>34.501</c:v>
                </c:pt>
                <c:pt idx="3">
                  <c:v>34.535</c:v>
                </c:pt>
                <c:pt idx="4">
                  <c:v>34.555</c:v>
                </c:pt>
                <c:pt idx="5">
                  <c:v>34.625</c:v>
                </c:pt>
                <c:pt idx="6">
                  <c:v>34.709</c:v>
                </c:pt>
                <c:pt idx="7">
                  <c:v>34.711</c:v>
                </c:pt>
                <c:pt idx="8">
                  <c:v>34.707</c:v>
                </c:pt>
                <c:pt idx="9">
                  <c:v>34.711</c:v>
                </c:pt>
                <c:pt idx="10">
                  <c:v>34.734</c:v>
                </c:pt>
                <c:pt idx="11">
                  <c:v>34.783</c:v>
                </c:pt>
                <c:pt idx="12">
                  <c:v>34.813</c:v>
                </c:pt>
                <c:pt idx="13">
                  <c:v>34.832</c:v>
                </c:pt>
                <c:pt idx="14">
                  <c:v>34.835</c:v>
                </c:pt>
                <c:pt idx="15">
                  <c:v>34.853</c:v>
                </c:pt>
                <c:pt idx="16">
                  <c:v>34.887</c:v>
                </c:pt>
                <c:pt idx="17">
                  <c:v>34.899</c:v>
                </c:pt>
                <c:pt idx="18">
                  <c:v>34.906</c:v>
                </c:pt>
                <c:pt idx="19">
                  <c:v>34.921</c:v>
                </c:pt>
                <c:pt idx="20">
                  <c:v>34.922</c:v>
                </c:pt>
                <c:pt idx="21">
                  <c:v>34.912</c:v>
                </c:pt>
                <c:pt idx="22">
                  <c:v>34.912</c:v>
                </c:pt>
                <c:pt idx="23">
                  <c:v>34.947</c:v>
                </c:pt>
                <c:pt idx="24">
                  <c:v>34.962</c:v>
                </c:pt>
                <c:pt idx="25">
                  <c:v>34.971</c:v>
                </c:pt>
                <c:pt idx="26">
                  <c:v>34.973</c:v>
                </c:pt>
                <c:pt idx="27">
                  <c:v>34.972</c:v>
                </c:pt>
                <c:pt idx="28">
                  <c:v>34.971</c:v>
                </c:pt>
                <c:pt idx="29">
                  <c:v>34.981</c:v>
                </c:pt>
                <c:pt idx="30">
                  <c:v>35.289</c:v>
                </c:pt>
                <c:pt idx="31">
                  <c:v>35.562</c:v>
                </c:pt>
                <c:pt idx="32">
                  <c:v>35.554</c:v>
                </c:pt>
                <c:pt idx="33">
                  <c:v>35.536</c:v>
                </c:pt>
                <c:pt idx="34">
                  <c:v>35.471</c:v>
                </c:pt>
                <c:pt idx="35">
                  <c:v>35.186</c:v>
                </c:pt>
                <c:pt idx="36">
                  <c:v>34.954</c:v>
                </c:pt>
                <c:pt idx="37">
                  <c:v>34.92</c:v>
                </c:pt>
                <c:pt idx="38">
                  <c:v>34.94</c:v>
                </c:pt>
                <c:pt idx="39">
                  <c:v>34.952</c:v>
                </c:pt>
                <c:pt idx="40">
                  <c:v>34.915</c:v>
                </c:pt>
                <c:pt idx="41">
                  <c:v>34.936</c:v>
                </c:pt>
                <c:pt idx="42">
                  <c:v>34.956</c:v>
                </c:pt>
                <c:pt idx="43">
                  <c:v>34.921</c:v>
                </c:pt>
                <c:pt idx="44">
                  <c:v>34.92</c:v>
                </c:pt>
                <c:pt idx="45">
                  <c:v>34.955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GPU-first (ours)</c:v>
                </c:pt>
              </c:strCache>
            </c:strRef>
          </c:tx>
          <c:spPr>
            <a:solidFill>
              <a:srgbClr val="009E73"/>
            </a:solidFill>
            <a:ln w="31750" cap="flat">
              <a:solidFill>
                <a:srgbClr val="009E7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9E73"/>
              </a:solidFill>
              <a:ln w="9525" cap="flat">
                <a:solidFill>
                  <a:srgbClr val="009E7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Sheet1!$A$2:$A$47</c:f>
              <c:multiLvlStrCache>
                <c:ptCount val="4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  <c:pt idx="41">
                    <c:v>41</c:v>
                  </c:pt>
                  <c:pt idx="42">
                    <c:v>42</c:v>
                  </c:pt>
                  <c:pt idx="43">
                    <c:v>43</c:v>
                  </c:pt>
                  <c:pt idx="44">
                    <c:v>44</c:v>
                  </c:pt>
                  <c:pt idx="45">
                    <c:v>45</c:v>
                  </c:pt>
                </c:lvl>
              </c:multiLvlStrCache>
            </c:multiLvlStrRef>
          </c:cat>
          <c:val>
            <c:numRef>
              <c:f>Sheet1!$D$2:$D$47</c:f>
              <c:numCache>
                <c:formatCode>General</c:formatCode>
                <c:ptCount val="46"/>
                <c:pt idx="0">
                  <c:v>17.041</c:v>
                </c:pt>
                <c:pt idx="1">
                  <c:v>17.087</c:v>
                </c:pt>
                <c:pt idx="2">
                  <c:v>17.107</c:v>
                </c:pt>
                <c:pt idx="3">
                  <c:v>17.163</c:v>
                </c:pt>
                <c:pt idx="4">
                  <c:v>17.205</c:v>
                </c:pt>
                <c:pt idx="5">
                  <c:v>17.242</c:v>
                </c:pt>
                <c:pt idx="6">
                  <c:v>17.258</c:v>
                </c:pt>
                <c:pt idx="7">
                  <c:v>17.289</c:v>
                </c:pt>
                <c:pt idx="8">
                  <c:v>17.316</c:v>
                </c:pt>
                <c:pt idx="9">
                  <c:v>17.302</c:v>
                </c:pt>
                <c:pt idx="10">
                  <c:v>17.364</c:v>
                </c:pt>
                <c:pt idx="11">
                  <c:v>17.411</c:v>
                </c:pt>
                <c:pt idx="12">
                  <c:v>17.397</c:v>
                </c:pt>
                <c:pt idx="13">
                  <c:v>17.419</c:v>
                </c:pt>
                <c:pt idx="14">
                  <c:v>17.408</c:v>
                </c:pt>
                <c:pt idx="15">
                  <c:v>17.35</c:v>
                </c:pt>
                <c:pt idx="16">
                  <c:v>17.37</c:v>
                </c:pt>
                <c:pt idx="17">
                  <c:v>17.39</c:v>
                </c:pt>
                <c:pt idx="18">
                  <c:v>17.435</c:v>
                </c:pt>
                <c:pt idx="19">
                  <c:v>17.438</c:v>
                </c:pt>
                <c:pt idx="20">
                  <c:v>17.44</c:v>
                </c:pt>
                <c:pt idx="21">
                  <c:v>17.473</c:v>
                </c:pt>
                <c:pt idx="22">
                  <c:v>17.487</c:v>
                </c:pt>
                <c:pt idx="23">
                  <c:v>17.527</c:v>
                </c:pt>
                <c:pt idx="24">
                  <c:v>17.527</c:v>
                </c:pt>
                <c:pt idx="25">
                  <c:v>17.543</c:v>
                </c:pt>
                <c:pt idx="26">
                  <c:v>17.562</c:v>
                </c:pt>
                <c:pt idx="27">
                  <c:v>17.566</c:v>
                </c:pt>
                <c:pt idx="28">
                  <c:v>17.585</c:v>
                </c:pt>
                <c:pt idx="29">
                  <c:v>17.532</c:v>
                </c:pt>
                <c:pt idx="30">
                  <c:v>17.644</c:v>
                </c:pt>
                <c:pt idx="31">
                  <c:v>17.651</c:v>
                </c:pt>
                <c:pt idx="32">
                  <c:v>17.666</c:v>
                </c:pt>
                <c:pt idx="33">
                  <c:v>17.668</c:v>
                </c:pt>
                <c:pt idx="34">
                  <c:v>17.716</c:v>
                </c:pt>
                <c:pt idx="35">
                  <c:v>17.726</c:v>
                </c:pt>
                <c:pt idx="36">
                  <c:v>17.742</c:v>
                </c:pt>
                <c:pt idx="37">
                  <c:v>17.781</c:v>
                </c:pt>
                <c:pt idx="38">
                  <c:v>17.788</c:v>
                </c:pt>
                <c:pt idx="39">
                  <c:v>17.796</c:v>
                </c:pt>
                <c:pt idx="40">
                  <c:v>17.81</c:v>
                </c:pt>
                <c:pt idx="41">
                  <c:v>17.806</c:v>
                </c:pt>
                <c:pt idx="42">
                  <c:v>17.804</c:v>
                </c:pt>
                <c:pt idx="43">
                  <c:v>17.792</c:v>
                </c:pt>
                <c:pt idx="44">
                  <c:v>17.76</c:v>
                </c:pt>
                <c:pt idx="45">
                  <c:v>17.758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Times New Roman"/>
                  </a:rPr>
                  <a:t>wall time (min)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5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Times New Roman"/>
                  </a:rPr>
                  <a:t>host DRAM, AnonPages (GB)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charts are native PowerPoint charts: right-click &gt; Edit Data to change values, or use the Chart Design / Format tabs for colours and axes.
Source: results/exp1/sharegpt_p60000_c8_m1024. Memory downsampled to 1 point/min from a 1 Hz sampler. TTFT is the median per turn; turns with fewer than 30 samples (turn 9, n=24) are omitted.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GPU-first KV placement: same latency budget, half the host DRAM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ShareGPT multi-turn · SGLang 2P2D · Llama-3.1-8B · C=8 · 60k-token prefill pool · 1440 turns per arm · no failures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5778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63640" y="1188720"/>
          <a:ext cx="54406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5513832"/>
            <a:ext cx="292608" cy="73152"/>
          </a:xfrm>
          <a:prstGeom prst="rect">
            <a:avLst/>
          </a:prstGeom>
          <a:solidFill>
            <a:srgbClr val="E6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22960" y="53766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GPU-only (radix)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3063240" y="5513832"/>
            <a:ext cx="292608" cy="73152"/>
          </a:xfrm>
          <a:prstGeom prst="rect">
            <a:avLst/>
          </a:prstGeom>
          <a:solidFill>
            <a:srgbClr val="0072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429000" y="53766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HiCache (host DRAM)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669280" y="5513832"/>
            <a:ext cx="292608" cy="73152"/>
          </a:xfrm>
          <a:prstGeom prst="rect">
            <a:avLst/>
          </a:prstGeom>
          <a:solidFill>
            <a:srgbClr val="00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035040" y="53766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GPU-first (ours)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587044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Turn 0 is a control: no arm can reuse or fetch, so its gap is fixed overhead. GPU-first is faster at every later turn (−0.06 to −0.08 s).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263640" y="5870448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HiCache commits its host pool at startup and never releases it: −17.9 GB AnonPages, traded for +9.3 GB of otherwise-idle GPU HBM.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 1 - GPU-first unified KV placement</dc:title>
  <dc:subject>PptxGenJS Presentation</dc:subject>
  <dc:creator>SGLang KV placement experiment</dc:creator>
  <cp:lastModifiedBy>SGLang KV placement experiment</cp:lastModifiedBy>
  <cp:revision>1</cp:revision>
  <dcterms:created xsi:type="dcterms:W3CDTF">2026-07-31T04:49:17Z</dcterms:created>
  <dcterms:modified xsi:type="dcterms:W3CDTF">2026-07-31T04:49:17Z</dcterms:modified>
</cp:coreProperties>
</file>