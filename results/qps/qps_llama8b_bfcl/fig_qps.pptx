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(a)  Throughput vs offered rate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Recompute</c:v>
                </c:pt>
              </c:strCache>
            </c:strRef>
          </c:tx>
          <c:spPr>
            <a:solidFill>
              <a:srgbClr val="B4423C"/>
            </a:solidFill>
            <a:ln w="25400" cap="flat">
              <a:solidFill>
                <a:srgbClr val="B442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4423C"/>
              </a:solidFill>
              <a:ln w="9525" cap="flat">
                <a:solidFill>
                  <a:srgbClr val="B4423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0.3</c:v>
                </c:pt>
                <c:pt idx="1">
                  <c:v>0.6</c:v>
                </c:pt>
                <c:pt idx="2">
                  <c:v>1</c:v>
                </c:pt>
                <c:pt idx="3">
                  <c:v>1.8</c:v>
                </c:pt>
                <c:pt idx="4">
                  <c:v>3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16.41</c:v>
                </c:pt>
                <c:pt idx="1">
                  <c:v>11.6</c:v>
                </c:pt>
                <c:pt idx="2">
                  <c:v>27.75</c:v>
                </c:pt>
                <c:pt idx="3">
                  <c:v>13.08</c:v>
                </c:pt>
                <c:pt idx="4">
                  <c:v>40.87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SGLang</c:v>
                </c:pt>
              </c:strCache>
            </c:strRef>
          </c:tx>
          <c:spPr>
            <a:solidFill>
              <a:srgbClr val="0072B2"/>
            </a:solidFill>
            <a:ln w="25400" cap="flat">
              <a:solidFill>
                <a:srgbClr val="0072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0.3</c:v>
                </c:pt>
                <c:pt idx="1">
                  <c:v>0.6</c:v>
                </c:pt>
                <c:pt idx="2">
                  <c:v>1</c:v>
                </c:pt>
                <c:pt idx="3">
                  <c:v>1.8</c:v>
                </c:pt>
                <c:pt idx="4">
                  <c:v>3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17.56</c:v>
                </c:pt>
                <c:pt idx="1">
                  <c:v>18.17</c:v>
                </c:pt>
                <c:pt idx="2">
                  <c:v>27.42</c:v>
                </c:pt>
                <c:pt idx="3">
                  <c:v>14.84</c:v>
                </c:pt>
                <c:pt idx="4">
                  <c:v>42.56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009E73"/>
            </a:solidFill>
            <a:ln w="25400" cap="flat">
              <a:solidFill>
                <a:srgbClr val="009E7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0.3</c:v>
                </c:pt>
                <c:pt idx="1">
                  <c:v>0.6</c:v>
                </c:pt>
                <c:pt idx="2">
                  <c:v>1</c:v>
                </c:pt>
                <c:pt idx="3">
                  <c:v>1.8</c:v>
                </c:pt>
                <c:pt idx="4">
                  <c:v>3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>15.53</c:v>
                </c:pt>
                <c:pt idx="1">
                  <c:v>36.06</c:v>
                </c:pt>
                <c:pt idx="2">
                  <c:v>35.54</c:v>
                </c:pt>
                <c:pt idx="3">
                  <c:v>17.37</c:v>
                </c:pt>
                <c:pt idx="4">
                  <c:v>43.83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offered rate (sessions/s)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delivered tok/s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(b)  Latency vs offered rate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Recompute</c:v>
                </c:pt>
              </c:strCache>
            </c:strRef>
          </c:tx>
          <c:spPr>
            <a:solidFill>
              <a:srgbClr val="B4423C"/>
            </a:solidFill>
            <a:ln w="25400" cap="flat">
              <a:solidFill>
                <a:srgbClr val="B442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4423C"/>
              </a:solidFill>
              <a:ln w="9525" cap="flat">
                <a:solidFill>
                  <a:srgbClr val="B4423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0.3</c:v>
                </c:pt>
                <c:pt idx="1">
                  <c:v>0.6</c:v>
                </c:pt>
                <c:pt idx="2">
                  <c:v>1</c:v>
                </c:pt>
                <c:pt idx="3">
                  <c:v>1.8</c:v>
                </c:pt>
                <c:pt idx="4">
                  <c:v>3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1.2993</c:v>
                </c:pt>
                <c:pt idx="1">
                  <c:v>1.5277</c:v>
                </c:pt>
                <c:pt idx="2">
                  <c:v>7.4038</c:v>
                </c:pt>
                <c:pt idx="3">
                  <c:v>10.6526</c:v>
                </c:pt>
                <c:pt idx="4">
                  <c:v>36.4664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SGLang</c:v>
                </c:pt>
              </c:strCache>
            </c:strRef>
          </c:tx>
          <c:spPr>
            <a:solidFill>
              <a:srgbClr val="0072B2"/>
            </a:solidFill>
            <a:ln w="25400" cap="flat">
              <a:solidFill>
                <a:srgbClr val="0072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0.3</c:v>
                </c:pt>
                <c:pt idx="1">
                  <c:v>0.6</c:v>
                </c:pt>
                <c:pt idx="2">
                  <c:v>1</c:v>
                </c:pt>
                <c:pt idx="3">
                  <c:v>1.8</c:v>
                </c:pt>
                <c:pt idx="4">
                  <c:v>3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1.172</c:v>
                </c:pt>
                <c:pt idx="1">
                  <c:v>1.2825</c:v>
                </c:pt>
                <c:pt idx="2">
                  <c:v>4.1534</c:v>
                </c:pt>
                <c:pt idx="3">
                  <c:v>8.1675</c:v>
                </c:pt>
                <c:pt idx="4">
                  <c:v>33.9788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009E73"/>
            </a:solidFill>
            <a:ln w="25400" cap="flat">
              <a:solidFill>
                <a:srgbClr val="009E7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0.3</c:v>
                </c:pt>
                <c:pt idx="1">
                  <c:v>0.6</c:v>
                </c:pt>
                <c:pt idx="2">
                  <c:v>1</c:v>
                </c:pt>
                <c:pt idx="3">
                  <c:v>1.8</c:v>
                </c:pt>
                <c:pt idx="4">
                  <c:v>3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>0.8585</c:v>
                </c:pt>
                <c:pt idx="1">
                  <c:v>1.1112</c:v>
                </c:pt>
                <c:pt idx="2">
                  <c:v>5.0314</c:v>
                </c:pt>
                <c:pt idx="3">
                  <c:v>9.5475</c:v>
                </c:pt>
                <c:pt idx="4">
                  <c:v>35.6096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offered rate (sessions/s)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p50 TTFT (s)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charts are native PowerPoint charts: right-click &gt; Edit Data for values, or the Chart Design / Format tabs for colours and axes.
TTFT panel uses p50 (pass --ttft p95 to regenerate with the tail instead).
Points past saturation are real measurements but their latency is a still-growing queue, not a converged number -- see the caption.
Source: results/qps/qps_llama8b_bfcl/qps.json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Prefix reuse holds latency down until the server saturates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open-loop offered rate 0.3, 0.6, 1, 1.8, 3 sessions/s · qps_llama8b_bfcl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737360" y="1188720"/>
          <a:ext cx="4206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1188720"/>
          <a:ext cx="4206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0" y="5440680"/>
            <a:ext cx="384048" cy="0"/>
          </a:xfrm>
          <a:prstGeom prst="line">
            <a:avLst/>
          </a:prstGeom>
          <a:noFill/>
          <a:ln w="28575">
            <a:solidFill>
              <a:srgbClr val="B442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0" y="52760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Recompute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309360" y="5440680"/>
            <a:ext cx="384048" cy="0"/>
          </a:xfrm>
          <a:prstGeom prst="line">
            <a:avLst/>
          </a:prstGeom>
          <a:noFill/>
          <a:ln w="28575">
            <a:solidFill>
              <a:srgbClr val="0072B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766560" y="52760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SGLang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046720" y="5440680"/>
            <a:ext cx="384048" cy="0"/>
          </a:xfrm>
          <a:prstGeom prst="line">
            <a:avLst/>
          </a:prstGeom>
          <a:noFill/>
          <a:ln w="28575">
            <a:solidFill>
              <a:srgbClr val="009E7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503920" y="52760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11480" y="5806440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Saturated — recompute: saturated from rate 3 (65/365 unfinished @ 3) · hicache: saturated from rate 3 (222/365 unfinished @ 3) · park: saturated from rate 3 (220/365 unfinished @ 3). Panel (c) of the source figure (latency vs. DELIVERED throughput) isn't shown here as a native chart -- each arm delivers a different throughput at the same offered rate, so it has no single shared x-axis. See the next slide for the full 3-panel figure as rendered.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figure, as rendered (plot_qps.py)</a:t>
            </a:r>
            <a:endParaRPr lang="en-US" sz="1800" dirty="0"/>
          </a:p>
        </p:txBody>
      </p:sp>
      <p:pic>
        <p:nvPicPr>
          <p:cNvPr id="3" name="Image 0" descr="results/qps/qps_llama8b_bfcl/fig_q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11430000" cy="33523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30936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results/qps/qps_llama8b_bfcl/fig_qps.png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Prefix reuse holds latency down until the server saturates</dc:title>
  <dc:subject>PptxGenJS Presentation</dc:subject>
  <dc:creator>SGLang KV placement experiment</dc:creator>
  <cp:lastModifiedBy>SGLang KV placement experiment</cp:lastModifiedBy>
  <cp:revision>1</cp:revision>
  <dcterms:created xsi:type="dcterms:W3CDTF">2026-08-07T11:15:37Z</dcterms:created>
  <dcterms:modified xsi:type="dcterms:W3CDTF">2026-08-07T11:15:37Z</dcterms:modified>
</cp:coreProperties>
</file>